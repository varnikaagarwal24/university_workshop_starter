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1295C"/>
                </a:solidFill>
                <a:latin typeface="Calibri"/>
              </a:defRPr>
            </a:pPr>
            <a:r>
              <a:rPr sz="1300" b="0" i="0" u="none" strike="noStrike">
                <a:solidFill>
                  <a:srgbClr val="21295C"/>
                </a:solidFill>
                <a:latin typeface="Calibri"/>
              </a:rPr>
              <a:t>Beverage price vs. units sold (illustrative)</a:t>
            </a:r>
          </a:p>
        </c:rich>
      </c:tx>
      <c:layout/>
      <c:overlay val="0"/>
    </c:title>
    <c:autoTitleDeleted val="0"/>
    <c:plotArea>
      <c:layout/>
      <c:barChart>
        <c:barDir val="col"/>
        <c:grouping val="clustered"/>
        <c:varyColors val="0"/>
        <c:ser>
          <c:idx val="0"/>
          <c:order val="0"/>
          <c:tx>
            <c:strRef>
              <c:f>Sheet1!$B$1</c:f>
              <c:strCache>
                <c:ptCount val="1"/>
                <c:pt idx="0">
                  <c:v>Units sold</c:v>
                </c:pt>
              </c:strCache>
            </c:strRef>
          </c:tx>
          <c:spPr>
            <a:solidFill>
              <a:srgbClr val="1C7293">
                <a:alpha val="100000"/>
              </a:srgbClr>
            </a:solidFill>
            <a:effectLst/>
          </c:spPr>
          <c:invertIfNegative val="0"/>
          <c:dLbls>
            <c:numFmt formatCode="#,##0" sourceLinked="0"/>
            <c:txPr>
              <a:bodyPr/>
              <a:lstStyle/>
              <a:p>
                <a:pPr>
                  <a:defRPr b="0" i="0" strike="noStrike" sz="1000" u="none">
                    <a:solidFill>
                      <a:srgbClr val="16222A"/>
                    </a:solidFill>
                    <a:latin typeface="Arial"/>
                  </a:defRPr>
                </a:pPr>
              </a:p>
            </c:txPr>
            <c:showLegendKey val="0"/>
            <c:showVal val="1"/>
            <c:showCatName val="0"/>
            <c:showSerName val="0"/>
            <c:showPercent val="0"/>
            <c:showBubbleSize val="0"/>
            <c:showLeaderLines val="0"/>
          </c:dLbls>
          <c:cat>
            <c:multiLvlStrRef>
              <c:f>Sheet1!$A$2:$A$6</c:f>
              <c:multiLvlStrCache>
                <c:ptCount val="5"/>
                <c:lvl>
                  <c:pt idx="0">
                    <c:v>BEV-001
$3</c:v>
                  </c:pt>
                  <c:pt idx="1">
                    <c:v>BEV-002
$4</c:v>
                  </c:pt>
                  <c:pt idx="2">
                    <c:v>BEV-003
$5</c:v>
                  </c:pt>
                  <c:pt idx="3">
                    <c:v>BEV-004
$7</c:v>
                  </c:pt>
                  <c:pt idx="4">
                    <c:v>BEV-005
$6</c:v>
                  </c:pt>
                </c:lvl>
              </c:multiLvlStrCache>
            </c:multiLvlStrRef>
          </c:cat>
          <c:val>
            <c:numRef>
              <c:f>Sheet1!$B$2:$B$6</c:f>
              <c:numCache>
                <c:formatCode>General</c:formatCode>
                <c:ptCount val="5"/>
                <c:pt idx="0">
                  <c:v>118</c:v>
                </c:pt>
                <c:pt idx="1">
                  <c:v>132</c:v>
                </c:pt>
                <c:pt idx="2">
                  <c:v>96</c:v>
                </c:pt>
                <c:pt idx="3">
                  <c:v>204</c:v>
                </c:pt>
                <c:pt idx="4">
                  <c:v>88</c:v>
                </c:pt>
              </c:numCache>
            </c:numRef>
          </c:val>
        </c:ser>
        <c:dLbls>
          <c:numFmt formatCode="#,##0" sourceLinked="0"/>
          <c:txPr>
            <a:bodyPr/>
            <a:lstStyle/>
            <a:p>
              <a:pPr>
                <a:defRPr b="0" i="0" strike="noStrike" sz="1000" u="none">
                  <a:solidFill>
                    <a:srgbClr val="16222A"/>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(~10s) Today I'm presenting the Store Growth Readiness Scorecard — a dbt project built on the Jaffle Shop dataset that answers one question: which stores are built to keep growing, and what's quietly holding the others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The scorecard combines four signals into one score per store: growth trajectory — is revenue climbing or plateauing since the store opened; revenue concentration — how reliant a store is on just a few big orders; price sensitivity — whether higher prices are costing us units sold; and perishable exposure — how much revenue sits in slow-moving stock. Each signal is normalized and combined into one composite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(~15s) Under the hood, six raw source tables flow through a staging layer, five intermediate models that do the heavy calculation, and finally into marts — dimension tables, a sales fact table, and the payoff model: fct_store_scorecard.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Before the results — an important caveat. All 686 orders in this seed data belong to a single store, Philadelphia, over just 16 days. The other five stores have zero orders. That's a limitation of the seed data, not the model — every signal is built and tested to work across any number of stores, and stores with no data correctly return null, not a misleading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The build leaned heavily on testing. I originally assumed the sales fact table's grain was one row per order and SKU. A uniqueness test caught that assumption failing — 41 orders legitimately contain multiple units of the same SKU — so I corrected the primary key to item_id before it reached the marts layer. A structured 8-angle review also caught a tax-inclusive versus tax-exclusive revenue mismatch, which was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(~15s) So — for the one store we do have data on, Philadelphia scores 0.53 out of 1. Growth trajectory is inconclusive given only 16 days of history. Revenue concentration and perishable exposure both show moderate risk. But price sensitivity is where the real story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47% of Philadelphia's revenue is tied to underpriced strong sellers. BEV-004, priced at $7 — the most expensive beverage in the lineup — consistently outsells cheaper alternatives. That pattern, strong demand despite a high price, is a textbook signal of under-pricing rather than low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(~15s) The recommendation: run a controlled price test on BEV-004. Current sell-through suggests a modest increase is low-risk, and if margin improves without hurting volume, we extend the approach to other underpriced strong sellers.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(~10s) The full build — models, tests, and documentation — is on GitHub, with dbt build passing 35 out of 35.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1295C"/>
          </a:solidFill>
          <a:ln/>
        </p:spPr>
      </p:sp>
      <p:sp>
        <p:nvSpPr>
          <p:cNvPr id="3" name="Shape 1"/>
          <p:cNvSpPr/>
          <p:nvPr/>
        </p:nvSpPr>
        <p:spPr>
          <a:xfrm>
            <a:off x="8869680" y="-1463040"/>
            <a:ext cx="5029200" cy="5029200"/>
          </a:xfrm>
          <a:prstGeom prst="ellipse">
            <a:avLst/>
          </a:prstGeom>
          <a:solidFill>
            <a:srgbClr val="065A82">
              <a:alpha val="45000"/>
            </a:srgbClr>
          </a:solidFill>
          <a:ln/>
        </p:spPr>
      </p:sp>
      <p:sp>
        <p:nvSpPr>
          <p:cNvPr id="4" name="Shape 2"/>
          <p:cNvSpPr/>
          <p:nvPr/>
        </p:nvSpPr>
        <p:spPr>
          <a:xfrm>
            <a:off x="10332720" y="4206240"/>
            <a:ext cx="2926080" cy="2926080"/>
          </a:xfrm>
          <a:prstGeom prst="ellipse">
            <a:avLst/>
          </a:prstGeom>
          <a:solidFill>
            <a:srgbClr val="5FBFB0">
              <a:alpha val="30000"/>
            </a:srgbClr>
          </a:solidFill>
          <a:ln/>
        </p:spPr>
      </p:sp>
      <p:sp>
        <p:nvSpPr>
          <p:cNvPr id="5" name="Text 3"/>
          <p:cNvSpPr/>
          <p:nvPr/>
        </p:nvSpPr>
        <p:spPr>
          <a:xfrm>
            <a:off x="548640" y="2331720"/>
            <a:ext cx="9601200" cy="457200"/>
          </a:xfrm>
          <a:prstGeom prst="rect">
            <a:avLst/>
          </a:prstGeom>
          <a:noFill/>
          <a:ln/>
        </p:spPr>
        <p:txBody>
          <a:bodyPr wrap="square" rtlCol="0" anchor="ctr"/>
          <a:lstStyle/>
          <a:p>
            <a:pPr indent="0" marL="0">
              <a:buNone/>
            </a:pPr>
            <a:r>
              <a:rPr lang="en-US" sz="1600" b="1" spc="200" kern="0" dirty="0">
                <a:solidFill>
                  <a:srgbClr val="5FBFB0"/>
                </a:solidFill>
                <a:latin typeface="Calibri" pitchFamily="34" charset="0"/>
                <a:ea typeface="Calibri" pitchFamily="34" charset="-122"/>
                <a:cs typeface="Calibri" pitchFamily="34" charset="-120"/>
              </a:rPr>
              <a:t>STORE GROWTH READINESS SCORECARD</a:t>
            </a:r>
            <a:endParaRPr lang="en-US" sz="1600" dirty="0"/>
          </a:p>
        </p:txBody>
      </p:sp>
      <p:sp>
        <p:nvSpPr>
          <p:cNvPr id="6" name="Text 4"/>
          <p:cNvSpPr/>
          <p:nvPr/>
        </p:nvSpPr>
        <p:spPr>
          <a:xfrm>
            <a:off x="548640" y="2788920"/>
            <a:ext cx="9875520" cy="1737360"/>
          </a:xfrm>
          <a:prstGeom prst="rect">
            <a:avLst/>
          </a:prstGeom>
          <a:noFill/>
          <a:ln/>
        </p:spPr>
        <p:txBody>
          <a:bodyPr wrap="square"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Which stores are built to keep growing —</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and what's quietly holding the others back?</a:t>
            </a:r>
            <a:endParaRPr lang="en-US" sz="4000" dirty="0"/>
          </a:p>
        </p:txBody>
      </p:sp>
      <p:sp>
        <p:nvSpPr>
          <p:cNvPr id="7" name="Text 5"/>
          <p:cNvSpPr/>
          <p:nvPr/>
        </p:nvSpPr>
        <p:spPr>
          <a:xfrm>
            <a:off x="548640" y="4709160"/>
            <a:ext cx="8229600" cy="457200"/>
          </a:xfrm>
          <a:prstGeom prst="rect">
            <a:avLst/>
          </a:prstGeom>
          <a:noFill/>
          <a:ln/>
        </p:spPr>
        <p:txBody>
          <a:bodyPr wrap="square" rtlCol="0" anchor="ctr"/>
          <a:lstStyle/>
          <a:p>
            <a:pPr indent="0" marL="0">
              <a:buNone/>
            </a:pPr>
            <a:r>
              <a:rPr lang="en-US" sz="1500" i="1" dirty="0">
                <a:solidFill>
                  <a:srgbClr val="C8D8DF"/>
                </a:solidFill>
                <a:latin typeface="Calibri" pitchFamily="34" charset="0"/>
                <a:ea typeface="Calibri" pitchFamily="34" charset="-122"/>
                <a:cs typeface="Calibri" pitchFamily="34" charset="-120"/>
              </a:rPr>
              <a:t>A dbt analytics project on BigQuery  ·  Jaffle Shop seed data</a:t>
            </a:r>
            <a:endParaRPr lang="en-US" sz="1500" dirty="0"/>
          </a:p>
        </p:txBody>
      </p:sp>
      <p:sp>
        <p:nvSpPr>
          <p:cNvPr id="8" name="Shape 6"/>
          <p:cNvSpPr/>
          <p:nvPr/>
        </p:nvSpPr>
        <p:spPr>
          <a:xfrm>
            <a:off x="548640" y="5989320"/>
            <a:ext cx="2194560" cy="0"/>
          </a:xfrm>
          <a:prstGeom prst="line">
            <a:avLst/>
          </a:prstGeom>
          <a:noFill/>
          <a:ln w="25400">
            <a:solidFill>
              <a:srgbClr val="5FBFB0"/>
            </a:solidFill>
            <a:prstDash val="solid"/>
          </a:ln>
        </p:spPr>
      </p:sp>
      <p:sp>
        <p:nvSpPr>
          <p:cNvPr id="9" name="Text 7"/>
          <p:cNvSpPr/>
          <p:nvPr/>
        </p:nvSpPr>
        <p:spPr>
          <a:xfrm>
            <a:off x="548640" y="6126480"/>
            <a:ext cx="7315200" cy="365760"/>
          </a:xfrm>
          <a:prstGeom prst="rect">
            <a:avLst/>
          </a:prstGeom>
          <a:noFill/>
          <a:ln/>
        </p:spPr>
        <p:txBody>
          <a:bodyPr wrap="square" rtlCol="0" anchor="ctr"/>
          <a:lstStyle/>
          <a:p>
            <a:pPr indent="0" marL="0">
              <a:buNone/>
            </a:pPr>
            <a:r>
              <a:rPr lang="en-US" sz="1100" dirty="0">
                <a:solidFill>
                  <a:srgbClr val="9FB4BD"/>
                </a:solidFill>
                <a:latin typeface="Calibri" pitchFamily="34" charset="0"/>
                <a:ea typeface="Calibri" pitchFamily="34" charset="-122"/>
                <a:cs typeface="Calibri" pitchFamily="34" charset="-120"/>
              </a:rPr>
              <a:t>University Workshop  ·  UOB-Workshop branch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QUESTION</a:t>
            </a:r>
            <a:endParaRPr lang="en-US" sz="1300" dirty="0"/>
          </a:p>
        </p:txBody>
      </p:sp>
      <p:sp>
        <p:nvSpPr>
          <p:cNvPr id="3" name="Text 1"/>
          <p:cNvSpPr/>
          <p:nvPr/>
        </p:nvSpPr>
        <p:spPr>
          <a:xfrm>
            <a:off x="548640" y="777240"/>
            <a:ext cx="10515600" cy="118872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Which stores are positioned to grow —</a:t>
            </a:r>
            <a:endParaRPr lang="en-US" sz="3000" dirty="0"/>
          </a:p>
          <a:p>
            <a:pPr indent="0" marL="0">
              <a:buNone/>
            </a:pPr>
            <a:r>
              <a:rPr lang="en-US" sz="3000" b="1" dirty="0">
                <a:solidFill>
                  <a:srgbClr val="21295C"/>
                </a:solidFill>
                <a:latin typeface="Cambria" pitchFamily="34" charset="0"/>
                <a:ea typeface="Cambria" pitchFamily="34" charset="-122"/>
                <a:cs typeface="Cambria" pitchFamily="34" charset="-120"/>
              </a:rPr>
              <a:t>and why?</a:t>
            </a:r>
            <a:endParaRPr lang="en-US" sz="3000" dirty="0"/>
          </a:p>
        </p:txBody>
      </p:sp>
      <p:sp>
        <p:nvSpPr>
          <p:cNvPr id="4" name="Shape 2"/>
          <p:cNvSpPr/>
          <p:nvPr/>
        </p:nvSpPr>
        <p:spPr>
          <a:xfrm>
            <a:off x="548640" y="2331720"/>
            <a:ext cx="2514600" cy="3200400"/>
          </a:xfrm>
          <a:prstGeom prst="roundRect">
            <a:avLst>
              <a:gd name="adj" fmla="val 2909"/>
            </a:avLst>
          </a:prstGeom>
          <a:solidFill>
            <a:srgbClr val="F4F8FA"/>
          </a:solidFill>
          <a:ln/>
          <a:effectLst>
            <a:outerShdw sx="100000" sy="100000" kx="0" ky="0" algn="bl" rotWithShape="0" blurRad="76200" dist="25400" dir="5400000">
              <a:srgbClr val="1B1B1B">
                <a:alpha val="12000"/>
              </a:srgbClr>
            </a:outerShdw>
          </a:effectLst>
        </p:spPr>
      </p:sp>
      <p:sp>
        <p:nvSpPr>
          <p:cNvPr id="5" name="Shape 3"/>
          <p:cNvSpPr/>
          <p:nvPr/>
        </p:nvSpPr>
        <p:spPr>
          <a:xfrm>
            <a:off x="777240" y="2606040"/>
            <a:ext cx="502920" cy="502920"/>
          </a:xfrm>
          <a:prstGeom prst="ellipse">
            <a:avLst/>
          </a:prstGeom>
          <a:solidFill>
            <a:srgbClr val="065A82"/>
          </a:solidFill>
          <a:ln/>
        </p:spPr>
      </p:sp>
      <p:sp>
        <p:nvSpPr>
          <p:cNvPr id="6" name="Text 4"/>
          <p:cNvSpPr/>
          <p:nvPr/>
        </p:nvSpPr>
        <p:spPr>
          <a:xfrm>
            <a:off x="777240" y="260604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749808" y="3291840"/>
            <a:ext cx="2112264" cy="64008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Growth Trajectory</a:t>
            </a:r>
            <a:endParaRPr lang="en-US" sz="1500" dirty="0"/>
          </a:p>
        </p:txBody>
      </p:sp>
      <p:sp>
        <p:nvSpPr>
          <p:cNvPr id="8" name="Text 6"/>
          <p:cNvSpPr/>
          <p:nvPr/>
        </p:nvSpPr>
        <p:spPr>
          <a:xfrm>
            <a:off x="749808" y="3931920"/>
            <a:ext cx="2112264" cy="1463040"/>
          </a:xfrm>
          <a:prstGeom prst="rect">
            <a:avLst/>
          </a:prstGeom>
          <a:noFill/>
          <a:ln/>
        </p:spPr>
        <p:txBody>
          <a:bodyPr wrap="square" rtlCol="0" anchor="ctr"/>
          <a:lstStyle/>
          <a:p>
            <a:pPr indent="0" marL="0">
              <a:lnSpc>
                <a:spcPct val="115000"/>
              </a:lnSpc>
              <a:buNone/>
            </a:pPr>
            <a:r>
              <a:rPr lang="en-US" sz="1150" dirty="0">
                <a:solidFill>
                  <a:srgbClr val="5B6B76"/>
                </a:solidFill>
                <a:latin typeface="Calibri" pitchFamily="34" charset="0"/>
                <a:ea typeface="Calibri" pitchFamily="34" charset="-122"/>
                <a:cs typeface="Calibri" pitchFamily="34" charset="-120"/>
              </a:rPr>
              <a:t>Is weekly revenue climbing, plateaued, or fading since the store opened?</a:t>
            </a:r>
            <a:endParaRPr lang="en-US" sz="1150" dirty="0"/>
          </a:p>
        </p:txBody>
      </p:sp>
      <p:sp>
        <p:nvSpPr>
          <p:cNvPr id="9" name="Shape 7"/>
          <p:cNvSpPr/>
          <p:nvPr/>
        </p:nvSpPr>
        <p:spPr>
          <a:xfrm>
            <a:off x="3319272" y="2331720"/>
            <a:ext cx="2514600" cy="3200400"/>
          </a:xfrm>
          <a:prstGeom prst="roundRect">
            <a:avLst>
              <a:gd name="adj" fmla="val 2909"/>
            </a:avLst>
          </a:prstGeom>
          <a:solidFill>
            <a:srgbClr val="F4F8FA"/>
          </a:solidFill>
          <a:ln/>
          <a:effectLst>
            <a:outerShdw sx="100000" sy="100000" kx="0" ky="0" algn="bl" rotWithShape="0" blurRad="76200" dist="25400" dir="5400000">
              <a:srgbClr val="1B1B1B">
                <a:alpha val="12000"/>
              </a:srgbClr>
            </a:outerShdw>
          </a:effectLst>
        </p:spPr>
      </p:sp>
      <p:sp>
        <p:nvSpPr>
          <p:cNvPr id="10" name="Shape 8"/>
          <p:cNvSpPr/>
          <p:nvPr/>
        </p:nvSpPr>
        <p:spPr>
          <a:xfrm>
            <a:off x="3547872" y="2606040"/>
            <a:ext cx="502920" cy="502920"/>
          </a:xfrm>
          <a:prstGeom prst="ellipse">
            <a:avLst/>
          </a:prstGeom>
          <a:solidFill>
            <a:srgbClr val="065A82"/>
          </a:solidFill>
          <a:ln/>
        </p:spPr>
      </p:sp>
      <p:sp>
        <p:nvSpPr>
          <p:cNvPr id="11" name="Text 9"/>
          <p:cNvSpPr/>
          <p:nvPr/>
        </p:nvSpPr>
        <p:spPr>
          <a:xfrm>
            <a:off x="3547872" y="260604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3520440" y="3291840"/>
            <a:ext cx="2112264" cy="64008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Revenue Concentration</a:t>
            </a:r>
            <a:endParaRPr lang="en-US" sz="1500" dirty="0"/>
          </a:p>
        </p:txBody>
      </p:sp>
      <p:sp>
        <p:nvSpPr>
          <p:cNvPr id="13" name="Text 11"/>
          <p:cNvSpPr/>
          <p:nvPr/>
        </p:nvSpPr>
        <p:spPr>
          <a:xfrm>
            <a:off x="3520440" y="3931920"/>
            <a:ext cx="2112264" cy="1463040"/>
          </a:xfrm>
          <a:prstGeom prst="rect">
            <a:avLst/>
          </a:prstGeom>
          <a:noFill/>
          <a:ln/>
        </p:spPr>
        <p:txBody>
          <a:bodyPr wrap="square" rtlCol="0" anchor="ctr"/>
          <a:lstStyle/>
          <a:p>
            <a:pPr indent="0" marL="0">
              <a:lnSpc>
                <a:spcPct val="115000"/>
              </a:lnSpc>
              <a:buNone/>
            </a:pPr>
            <a:r>
              <a:rPr lang="en-US" sz="1150" dirty="0">
                <a:solidFill>
                  <a:srgbClr val="5B6B76"/>
                </a:solidFill>
                <a:latin typeface="Calibri" pitchFamily="34" charset="0"/>
                <a:ea typeface="Calibri" pitchFamily="34" charset="-122"/>
                <a:cs typeface="Calibri" pitchFamily="34" charset="-120"/>
              </a:rPr>
              <a:t>How much of a store's revenue rides on just its top-decile orders?</a:t>
            </a:r>
            <a:endParaRPr lang="en-US" sz="1150" dirty="0"/>
          </a:p>
        </p:txBody>
      </p:sp>
      <p:sp>
        <p:nvSpPr>
          <p:cNvPr id="14" name="Shape 12"/>
          <p:cNvSpPr/>
          <p:nvPr/>
        </p:nvSpPr>
        <p:spPr>
          <a:xfrm>
            <a:off x="6089904" y="2331720"/>
            <a:ext cx="2514600" cy="3200400"/>
          </a:xfrm>
          <a:prstGeom prst="roundRect">
            <a:avLst>
              <a:gd name="adj" fmla="val 2909"/>
            </a:avLst>
          </a:prstGeom>
          <a:solidFill>
            <a:srgbClr val="F4F8FA"/>
          </a:solidFill>
          <a:ln/>
          <a:effectLst>
            <a:outerShdw sx="100000" sy="100000" kx="0" ky="0" algn="bl" rotWithShape="0" blurRad="76200" dist="25400" dir="5400000">
              <a:srgbClr val="1B1B1B">
                <a:alpha val="12000"/>
              </a:srgbClr>
            </a:outerShdw>
          </a:effectLst>
        </p:spPr>
      </p:sp>
      <p:sp>
        <p:nvSpPr>
          <p:cNvPr id="15" name="Shape 13"/>
          <p:cNvSpPr/>
          <p:nvPr/>
        </p:nvSpPr>
        <p:spPr>
          <a:xfrm>
            <a:off x="6318504" y="2606040"/>
            <a:ext cx="502920" cy="502920"/>
          </a:xfrm>
          <a:prstGeom prst="ellipse">
            <a:avLst/>
          </a:prstGeom>
          <a:solidFill>
            <a:srgbClr val="065A82"/>
          </a:solidFill>
          <a:ln/>
        </p:spPr>
      </p:sp>
      <p:sp>
        <p:nvSpPr>
          <p:cNvPr id="16" name="Text 14"/>
          <p:cNvSpPr/>
          <p:nvPr/>
        </p:nvSpPr>
        <p:spPr>
          <a:xfrm>
            <a:off x="6318504" y="260604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6291072" y="3291840"/>
            <a:ext cx="2112264" cy="64008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Price Sensitivity</a:t>
            </a:r>
            <a:endParaRPr lang="en-US" sz="1500" dirty="0"/>
          </a:p>
        </p:txBody>
      </p:sp>
      <p:sp>
        <p:nvSpPr>
          <p:cNvPr id="18" name="Text 16"/>
          <p:cNvSpPr/>
          <p:nvPr/>
        </p:nvSpPr>
        <p:spPr>
          <a:xfrm>
            <a:off x="6291072" y="3931920"/>
            <a:ext cx="2112264" cy="1463040"/>
          </a:xfrm>
          <a:prstGeom prst="rect">
            <a:avLst/>
          </a:prstGeom>
          <a:noFill/>
          <a:ln/>
        </p:spPr>
        <p:txBody>
          <a:bodyPr wrap="square" rtlCol="0" anchor="ctr"/>
          <a:lstStyle/>
          <a:p>
            <a:pPr indent="0" marL="0">
              <a:lnSpc>
                <a:spcPct val="115000"/>
              </a:lnSpc>
              <a:buNone/>
            </a:pPr>
            <a:r>
              <a:rPr lang="en-US" sz="1150" dirty="0">
                <a:solidFill>
                  <a:srgbClr val="5B6B76"/>
                </a:solidFill>
                <a:latin typeface="Calibri" pitchFamily="34" charset="0"/>
                <a:ea typeface="Calibri" pitchFamily="34" charset="-122"/>
                <a:cs typeface="Calibri" pitchFamily="34" charset="-120"/>
              </a:rPr>
              <a:t>Within a product type, do higher prices actually cost us units sold?</a:t>
            </a:r>
            <a:endParaRPr lang="en-US" sz="1150" dirty="0"/>
          </a:p>
        </p:txBody>
      </p:sp>
      <p:sp>
        <p:nvSpPr>
          <p:cNvPr id="19" name="Shape 17"/>
          <p:cNvSpPr/>
          <p:nvPr/>
        </p:nvSpPr>
        <p:spPr>
          <a:xfrm>
            <a:off x="8860536" y="2331720"/>
            <a:ext cx="2514600" cy="3200400"/>
          </a:xfrm>
          <a:prstGeom prst="roundRect">
            <a:avLst>
              <a:gd name="adj" fmla="val 2909"/>
            </a:avLst>
          </a:prstGeom>
          <a:solidFill>
            <a:srgbClr val="F4F8FA"/>
          </a:solidFill>
          <a:ln/>
          <a:effectLst>
            <a:outerShdw sx="100000" sy="100000" kx="0" ky="0" algn="bl" rotWithShape="0" blurRad="76200" dist="25400" dir="5400000">
              <a:srgbClr val="1B1B1B">
                <a:alpha val="12000"/>
              </a:srgbClr>
            </a:outerShdw>
          </a:effectLst>
        </p:spPr>
      </p:sp>
      <p:sp>
        <p:nvSpPr>
          <p:cNvPr id="20" name="Shape 18"/>
          <p:cNvSpPr/>
          <p:nvPr/>
        </p:nvSpPr>
        <p:spPr>
          <a:xfrm>
            <a:off x="9089136" y="2606040"/>
            <a:ext cx="502920" cy="502920"/>
          </a:xfrm>
          <a:prstGeom prst="ellipse">
            <a:avLst/>
          </a:prstGeom>
          <a:solidFill>
            <a:srgbClr val="065A82"/>
          </a:solidFill>
          <a:ln/>
        </p:spPr>
      </p:sp>
      <p:sp>
        <p:nvSpPr>
          <p:cNvPr id="21" name="Text 19"/>
          <p:cNvSpPr/>
          <p:nvPr/>
        </p:nvSpPr>
        <p:spPr>
          <a:xfrm>
            <a:off x="9089136" y="260604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9061704" y="3291840"/>
            <a:ext cx="2112264" cy="64008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Perishable Exposure</a:t>
            </a:r>
            <a:endParaRPr lang="en-US" sz="1500" dirty="0"/>
          </a:p>
        </p:txBody>
      </p:sp>
      <p:sp>
        <p:nvSpPr>
          <p:cNvPr id="23" name="Text 21"/>
          <p:cNvSpPr/>
          <p:nvPr/>
        </p:nvSpPr>
        <p:spPr>
          <a:xfrm>
            <a:off x="9061704" y="3931920"/>
            <a:ext cx="2112264" cy="1463040"/>
          </a:xfrm>
          <a:prstGeom prst="rect">
            <a:avLst/>
          </a:prstGeom>
          <a:noFill/>
          <a:ln/>
        </p:spPr>
        <p:txBody>
          <a:bodyPr wrap="square" rtlCol="0" anchor="ctr"/>
          <a:lstStyle/>
          <a:p>
            <a:pPr indent="0" marL="0">
              <a:lnSpc>
                <a:spcPct val="115000"/>
              </a:lnSpc>
              <a:buNone/>
            </a:pPr>
            <a:r>
              <a:rPr lang="en-US" sz="1150" dirty="0">
                <a:solidFill>
                  <a:srgbClr val="5B6B76"/>
                </a:solidFill>
                <a:latin typeface="Calibri" pitchFamily="34" charset="0"/>
                <a:ea typeface="Calibri" pitchFamily="34" charset="-122"/>
                <a:cs typeface="Calibri" pitchFamily="34" charset="-120"/>
              </a:rPr>
              <a:t>How much revenue is tied to slow-moving, thin-margin perishables?</a:t>
            </a:r>
            <a:endParaRPr lang="en-US" sz="1150" dirty="0"/>
          </a:p>
        </p:txBody>
      </p:sp>
      <p:sp>
        <p:nvSpPr>
          <p:cNvPr id="24" name="Text 22"/>
          <p:cNvSpPr/>
          <p:nvPr/>
        </p:nvSpPr>
        <p:spPr>
          <a:xfrm>
            <a:off x="548640" y="5806440"/>
            <a:ext cx="10789920" cy="457200"/>
          </a:xfrm>
          <a:prstGeom prst="rect">
            <a:avLst/>
          </a:prstGeom>
          <a:noFill/>
          <a:ln/>
        </p:spPr>
        <p:txBody>
          <a:bodyPr wrap="square" rtlCol="0" anchor="ctr"/>
          <a:lstStyle/>
          <a:p>
            <a:pPr indent="0" marL="0">
              <a:buNone/>
            </a:pPr>
            <a:r>
              <a:rPr lang="en-US" sz="1250" i="1" dirty="0">
                <a:solidFill>
                  <a:srgbClr val="1C7293"/>
                </a:solidFill>
                <a:latin typeface="Calibri" pitchFamily="34" charset="0"/>
                <a:ea typeface="Calibri" pitchFamily="34" charset="-122"/>
                <a:cs typeface="Calibri" pitchFamily="34" charset="-120"/>
              </a:rPr>
              <a:t>Each signal is normalized to a 0–1 scale and combined into one composite growth_readiness_score per store.</a:t>
            </a:r>
            <a:endParaRPr lang="en-US" sz="1250" dirty="0"/>
          </a:p>
        </p:txBody>
      </p:sp>
      <p:sp>
        <p:nvSpPr>
          <p:cNvPr id="25" name="Text 23"/>
          <p:cNvSpPr/>
          <p:nvPr/>
        </p:nvSpPr>
        <p:spPr>
          <a:xfrm>
            <a:off x="548640" y="6537960"/>
            <a:ext cx="7315200" cy="274320"/>
          </a:xfrm>
          <a:prstGeom prst="rect">
            <a:avLst/>
          </a:prstGeom>
          <a:noFill/>
          <a:ln/>
        </p:spPr>
        <p:txBody>
          <a:bodyPr wrap="square" rtlCol="0" anchor="ctr"/>
          <a:lstStyle/>
          <a:p>
            <a:pPr indent="0" marL="0">
              <a:buNone/>
            </a:pPr>
            <a:r>
              <a:rPr lang="en-US" sz="900" dirty="0">
                <a:solidFill>
                  <a:srgbClr val="5B6B76"/>
                </a:solidFill>
                <a:latin typeface="Calibri" pitchFamily="34" charset="0"/>
                <a:ea typeface="Calibri" pitchFamily="34" charset="-122"/>
                <a:cs typeface="Calibri" pitchFamily="34" charset="-120"/>
              </a:rPr>
              <a:t>Store Growth Readiness Scorecard  ·  Jaffle Shop dbt Project</a:t>
            </a:r>
            <a:endParaRPr lang="en-US" sz="900" dirty="0"/>
          </a:p>
        </p:txBody>
      </p:sp>
      <p:sp>
        <p:nvSpPr>
          <p:cNvPr id="26" name="Text 24"/>
          <p:cNvSpPr/>
          <p:nvPr/>
        </p:nvSpPr>
        <p:spPr>
          <a:xfrm>
            <a:off x="11365992" y="6537960"/>
            <a:ext cx="36576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DATA STRUCTURE</a:t>
            </a:r>
            <a:endParaRPr lang="en-US" sz="1300" dirty="0"/>
          </a:p>
        </p:txBody>
      </p:sp>
      <p:sp>
        <p:nvSpPr>
          <p:cNvPr id="3" name="Text 1"/>
          <p:cNvSpPr/>
          <p:nvPr/>
        </p:nvSpPr>
        <p:spPr>
          <a:xfrm>
            <a:off x="548640" y="777240"/>
            <a:ext cx="10058400" cy="64008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Six raw tables, one clean pipeline</a:t>
            </a:r>
            <a:endParaRPr lang="en-US" sz="2800" dirty="0"/>
          </a:p>
        </p:txBody>
      </p:sp>
      <p:sp>
        <p:nvSpPr>
          <p:cNvPr id="4" name="Text 2"/>
          <p:cNvSpPr/>
          <p:nvPr/>
        </p:nvSpPr>
        <p:spPr>
          <a:xfrm>
            <a:off x="640080" y="1600200"/>
            <a:ext cx="2286000" cy="274320"/>
          </a:xfrm>
          <a:prstGeom prst="rect">
            <a:avLst/>
          </a:prstGeom>
          <a:noFill/>
          <a:ln/>
        </p:spPr>
        <p:txBody>
          <a:bodyPr wrap="square" rtlCol="0" anchor="ctr"/>
          <a:lstStyle/>
          <a:p>
            <a:pPr indent="0" marL="0">
              <a:buNone/>
            </a:pPr>
            <a:r>
              <a:rPr lang="en-US" sz="1050" b="1" dirty="0">
                <a:solidFill>
                  <a:srgbClr val="5B6B76"/>
                </a:solidFill>
                <a:latin typeface="Calibri" pitchFamily="34" charset="0"/>
                <a:ea typeface="Calibri" pitchFamily="34" charset="-122"/>
                <a:cs typeface="Calibri" pitchFamily="34" charset="-120"/>
              </a:rPr>
              <a:t>SOURCE (BigQuery seed)</a:t>
            </a:r>
            <a:endParaRPr lang="en-US" sz="1050" dirty="0"/>
          </a:p>
        </p:txBody>
      </p:sp>
      <p:sp>
        <p:nvSpPr>
          <p:cNvPr id="5" name="Shape 3"/>
          <p:cNvSpPr/>
          <p:nvPr/>
        </p:nvSpPr>
        <p:spPr>
          <a:xfrm>
            <a:off x="640080" y="1965960"/>
            <a:ext cx="2286000" cy="457200"/>
          </a:xfrm>
          <a:prstGeom prst="roundRect">
            <a:avLst>
              <a:gd name="adj" fmla="val 12000"/>
            </a:avLst>
          </a:prstGeom>
          <a:solidFill>
            <a:srgbClr val="F4F8FA"/>
          </a:solidFill>
          <a:ln w="12700">
            <a:solidFill>
              <a:srgbClr val="D7E2E6"/>
            </a:solidFill>
            <a:prstDash val="solid"/>
          </a:ln>
        </p:spPr>
      </p:sp>
      <p:sp>
        <p:nvSpPr>
          <p:cNvPr id="6" name="Text 4"/>
          <p:cNvSpPr/>
          <p:nvPr/>
        </p:nvSpPr>
        <p:spPr>
          <a:xfrm>
            <a:off x="777240" y="1965960"/>
            <a:ext cx="2011680" cy="457200"/>
          </a:xfrm>
          <a:prstGeom prst="rect">
            <a:avLst/>
          </a:prstGeom>
          <a:noFill/>
          <a:ln/>
        </p:spPr>
        <p:txBody>
          <a:bodyPr wrap="square" rtlCol="0" anchor="ctr"/>
          <a:lstStyle/>
          <a:p>
            <a:pPr indent="0" marL="0">
              <a:buNone/>
            </a:pPr>
            <a:r>
              <a:rPr lang="en-US" sz="1150" dirty="0">
                <a:solidFill>
                  <a:srgbClr val="16222A"/>
                </a:solidFill>
                <a:latin typeface="Courier New" pitchFamily="34" charset="0"/>
                <a:ea typeface="Courier New" pitchFamily="34" charset="-122"/>
                <a:cs typeface="Courier New" pitchFamily="34" charset="-120"/>
              </a:rPr>
              <a:t>raw_customers</a:t>
            </a:r>
            <a:endParaRPr lang="en-US" sz="1150" dirty="0"/>
          </a:p>
        </p:txBody>
      </p:sp>
      <p:sp>
        <p:nvSpPr>
          <p:cNvPr id="7" name="Shape 5"/>
          <p:cNvSpPr/>
          <p:nvPr/>
        </p:nvSpPr>
        <p:spPr>
          <a:xfrm>
            <a:off x="640080" y="2532888"/>
            <a:ext cx="2286000" cy="457200"/>
          </a:xfrm>
          <a:prstGeom prst="roundRect">
            <a:avLst>
              <a:gd name="adj" fmla="val 12000"/>
            </a:avLst>
          </a:prstGeom>
          <a:solidFill>
            <a:srgbClr val="F4F8FA"/>
          </a:solidFill>
          <a:ln w="12700">
            <a:solidFill>
              <a:srgbClr val="D7E2E6"/>
            </a:solidFill>
            <a:prstDash val="solid"/>
          </a:ln>
        </p:spPr>
      </p:sp>
      <p:sp>
        <p:nvSpPr>
          <p:cNvPr id="8" name="Text 6"/>
          <p:cNvSpPr/>
          <p:nvPr/>
        </p:nvSpPr>
        <p:spPr>
          <a:xfrm>
            <a:off x="777240" y="2532888"/>
            <a:ext cx="2011680" cy="457200"/>
          </a:xfrm>
          <a:prstGeom prst="rect">
            <a:avLst/>
          </a:prstGeom>
          <a:noFill/>
          <a:ln/>
        </p:spPr>
        <p:txBody>
          <a:bodyPr wrap="square" rtlCol="0" anchor="ctr"/>
          <a:lstStyle/>
          <a:p>
            <a:pPr indent="0" marL="0">
              <a:buNone/>
            </a:pPr>
            <a:r>
              <a:rPr lang="en-US" sz="1150" dirty="0">
                <a:solidFill>
                  <a:srgbClr val="16222A"/>
                </a:solidFill>
                <a:latin typeface="Courier New" pitchFamily="34" charset="0"/>
                <a:ea typeface="Courier New" pitchFamily="34" charset="-122"/>
                <a:cs typeface="Courier New" pitchFamily="34" charset="-120"/>
              </a:rPr>
              <a:t>raw_orders</a:t>
            </a:r>
            <a:endParaRPr lang="en-US" sz="1150" dirty="0"/>
          </a:p>
        </p:txBody>
      </p:sp>
      <p:sp>
        <p:nvSpPr>
          <p:cNvPr id="9" name="Shape 7"/>
          <p:cNvSpPr/>
          <p:nvPr/>
        </p:nvSpPr>
        <p:spPr>
          <a:xfrm>
            <a:off x="640080" y="3099816"/>
            <a:ext cx="2286000" cy="457200"/>
          </a:xfrm>
          <a:prstGeom prst="roundRect">
            <a:avLst>
              <a:gd name="adj" fmla="val 12000"/>
            </a:avLst>
          </a:prstGeom>
          <a:solidFill>
            <a:srgbClr val="F4F8FA"/>
          </a:solidFill>
          <a:ln w="12700">
            <a:solidFill>
              <a:srgbClr val="D7E2E6"/>
            </a:solidFill>
            <a:prstDash val="solid"/>
          </a:ln>
        </p:spPr>
      </p:sp>
      <p:sp>
        <p:nvSpPr>
          <p:cNvPr id="10" name="Text 8"/>
          <p:cNvSpPr/>
          <p:nvPr/>
        </p:nvSpPr>
        <p:spPr>
          <a:xfrm>
            <a:off x="777240" y="3099816"/>
            <a:ext cx="2011680" cy="457200"/>
          </a:xfrm>
          <a:prstGeom prst="rect">
            <a:avLst/>
          </a:prstGeom>
          <a:noFill/>
          <a:ln/>
        </p:spPr>
        <p:txBody>
          <a:bodyPr wrap="square" rtlCol="0" anchor="ctr"/>
          <a:lstStyle/>
          <a:p>
            <a:pPr indent="0" marL="0">
              <a:buNone/>
            </a:pPr>
            <a:r>
              <a:rPr lang="en-US" sz="1150" dirty="0">
                <a:solidFill>
                  <a:srgbClr val="16222A"/>
                </a:solidFill>
                <a:latin typeface="Courier New" pitchFamily="34" charset="0"/>
                <a:ea typeface="Courier New" pitchFamily="34" charset="-122"/>
                <a:cs typeface="Courier New" pitchFamily="34" charset="-120"/>
              </a:rPr>
              <a:t>raw_items</a:t>
            </a:r>
            <a:endParaRPr lang="en-US" sz="1150" dirty="0"/>
          </a:p>
        </p:txBody>
      </p:sp>
      <p:sp>
        <p:nvSpPr>
          <p:cNvPr id="11" name="Shape 9"/>
          <p:cNvSpPr/>
          <p:nvPr/>
        </p:nvSpPr>
        <p:spPr>
          <a:xfrm>
            <a:off x="640080" y="3666744"/>
            <a:ext cx="2286000" cy="457200"/>
          </a:xfrm>
          <a:prstGeom prst="roundRect">
            <a:avLst>
              <a:gd name="adj" fmla="val 12000"/>
            </a:avLst>
          </a:prstGeom>
          <a:solidFill>
            <a:srgbClr val="F4F8FA"/>
          </a:solidFill>
          <a:ln w="12700">
            <a:solidFill>
              <a:srgbClr val="D7E2E6"/>
            </a:solidFill>
            <a:prstDash val="solid"/>
          </a:ln>
        </p:spPr>
      </p:sp>
      <p:sp>
        <p:nvSpPr>
          <p:cNvPr id="12" name="Text 10"/>
          <p:cNvSpPr/>
          <p:nvPr/>
        </p:nvSpPr>
        <p:spPr>
          <a:xfrm>
            <a:off x="777240" y="3666744"/>
            <a:ext cx="2011680" cy="457200"/>
          </a:xfrm>
          <a:prstGeom prst="rect">
            <a:avLst/>
          </a:prstGeom>
          <a:noFill/>
          <a:ln/>
        </p:spPr>
        <p:txBody>
          <a:bodyPr wrap="square" rtlCol="0" anchor="ctr"/>
          <a:lstStyle/>
          <a:p>
            <a:pPr indent="0" marL="0">
              <a:buNone/>
            </a:pPr>
            <a:r>
              <a:rPr lang="en-US" sz="1150" dirty="0">
                <a:solidFill>
                  <a:srgbClr val="16222A"/>
                </a:solidFill>
                <a:latin typeface="Courier New" pitchFamily="34" charset="0"/>
                <a:ea typeface="Courier New" pitchFamily="34" charset="-122"/>
                <a:cs typeface="Courier New" pitchFamily="34" charset="-120"/>
              </a:rPr>
              <a:t>raw_products</a:t>
            </a:r>
            <a:endParaRPr lang="en-US" sz="1150" dirty="0"/>
          </a:p>
        </p:txBody>
      </p:sp>
      <p:sp>
        <p:nvSpPr>
          <p:cNvPr id="13" name="Shape 11"/>
          <p:cNvSpPr/>
          <p:nvPr/>
        </p:nvSpPr>
        <p:spPr>
          <a:xfrm>
            <a:off x="640080" y="4233672"/>
            <a:ext cx="2286000" cy="457200"/>
          </a:xfrm>
          <a:prstGeom prst="roundRect">
            <a:avLst>
              <a:gd name="adj" fmla="val 12000"/>
            </a:avLst>
          </a:prstGeom>
          <a:solidFill>
            <a:srgbClr val="F4F8FA"/>
          </a:solidFill>
          <a:ln w="12700">
            <a:solidFill>
              <a:srgbClr val="D7E2E6"/>
            </a:solidFill>
            <a:prstDash val="solid"/>
          </a:ln>
        </p:spPr>
      </p:sp>
      <p:sp>
        <p:nvSpPr>
          <p:cNvPr id="14" name="Text 12"/>
          <p:cNvSpPr/>
          <p:nvPr/>
        </p:nvSpPr>
        <p:spPr>
          <a:xfrm>
            <a:off x="777240" y="4233672"/>
            <a:ext cx="2011680" cy="457200"/>
          </a:xfrm>
          <a:prstGeom prst="rect">
            <a:avLst/>
          </a:prstGeom>
          <a:noFill/>
          <a:ln/>
        </p:spPr>
        <p:txBody>
          <a:bodyPr wrap="square" rtlCol="0" anchor="ctr"/>
          <a:lstStyle/>
          <a:p>
            <a:pPr indent="0" marL="0">
              <a:buNone/>
            </a:pPr>
            <a:r>
              <a:rPr lang="en-US" sz="1150" dirty="0">
                <a:solidFill>
                  <a:srgbClr val="16222A"/>
                </a:solidFill>
                <a:latin typeface="Courier New" pitchFamily="34" charset="0"/>
                <a:ea typeface="Courier New" pitchFamily="34" charset="-122"/>
                <a:cs typeface="Courier New" pitchFamily="34" charset="-120"/>
              </a:rPr>
              <a:t>raw_stores</a:t>
            </a:r>
            <a:endParaRPr lang="en-US" sz="1150" dirty="0"/>
          </a:p>
        </p:txBody>
      </p:sp>
      <p:sp>
        <p:nvSpPr>
          <p:cNvPr id="15" name="Shape 13"/>
          <p:cNvSpPr/>
          <p:nvPr/>
        </p:nvSpPr>
        <p:spPr>
          <a:xfrm>
            <a:off x="640080" y="4800600"/>
            <a:ext cx="2286000" cy="457200"/>
          </a:xfrm>
          <a:prstGeom prst="roundRect">
            <a:avLst>
              <a:gd name="adj" fmla="val 12000"/>
            </a:avLst>
          </a:prstGeom>
          <a:solidFill>
            <a:srgbClr val="F4F8FA"/>
          </a:solidFill>
          <a:ln w="12700">
            <a:solidFill>
              <a:srgbClr val="D7E2E6"/>
            </a:solidFill>
            <a:prstDash val="solid"/>
          </a:ln>
        </p:spPr>
      </p:sp>
      <p:sp>
        <p:nvSpPr>
          <p:cNvPr id="16" name="Text 14"/>
          <p:cNvSpPr/>
          <p:nvPr/>
        </p:nvSpPr>
        <p:spPr>
          <a:xfrm>
            <a:off x="777240" y="4800600"/>
            <a:ext cx="2011680" cy="457200"/>
          </a:xfrm>
          <a:prstGeom prst="rect">
            <a:avLst/>
          </a:prstGeom>
          <a:noFill/>
          <a:ln/>
        </p:spPr>
        <p:txBody>
          <a:bodyPr wrap="square" rtlCol="0" anchor="ctr"/>
          <a:lstStyle/>
          <a:p>
            <a:pPr indent="0" marL="0">
              <a:buNone/>
            </a:pPr>
            <a:r>
              <a:rPr lang="en-US" sz="1150" dirty="0">
                <a:solidFill>
                  <a:srgbClr val="16222A"/>
                </a:solidFill>
                <a:latin typeface="Courier New" pitchFamily="34" charset="0"/>
                <a:ea typeface="Courier New" pitchFamily="34" charset="-122"/>
                <a:cs typeface="Courier New" pitchFamily="34" charset="-120"/>
              </a:rPr>
              <a:t>raw_supplies</a:t>
            </a:r>
            <a:endParaRPr lang="en-US" sz="1150" dirty="0"/>
          </a:p>
        </p:txBody>
      </p:sp>
      <p:sp>
        <p:nvSpPr>
          <p:cNvPr id="17" name="Shape 15"/>
          <p:cNvSpPr/>
          <p:nvPr/>
        </p:nvSpPr>
        <p:spPr>
          <a:xfrm>
            <a:off x="3063240" y="3154680"/>
            <a:ext cx="502920" cy="365760"/>
          </a:xfrm>
          <a:prstGeom prst="rightArrow">
            <a:avLst/>
          </a:prstGeom>
          <a:solidFill>
            <a:srgbClr val="1C7293"/>
          </a:solidFill>
          <a:ln/>
        </p:spPr>
      </p:sp>
      <p:sp>
        <p:nvSpPr>
          <p:cNvPr id="18" name="Text 16"/>
          <p:cNvSpPr/>
          <p:nvPr/>
        </p:nvSpPr>
        <p:spPr>
          <a:xfrm>
            <a:off x="3703320" y="1600200"/>
            <a:ext cx="2286000" cy="274320"/>
          </a:xfrm>
          <a:prstGeom prst="rect">
            <a:avLst/>
          </a:prstGeom>
          <a:noFill/>
          <a:ln/>
        </p:spPr>
        <p:txBody>
          <a:bodyPr wrap="square" rtlCol="0" anchor="ctr"/>
          <a:lstStyle/>
          <a:p>
            <a:pPr indent="0" marL="0">
              <a:buNone/>
            </a:pPr>
            <a:r>
              <a:rPr lang="en-US" sz="1050" b="1" dirty="0">
                <a:solidFill>
                  <a:srgbClr val="5B6B76"/>
                </a:solidFill>
                <a:latin typeface="Calibri" pitchFamily="34" charset="0"/>
                <a:ea typeface="Calibri" pitchFamily="34" charset="-122"/>
                <a:cs typeface="Calibri" pitchFamily="34" charset="-120"/>
              </a:rPr>
              <a:t>STAGING</a:t>
            </a:r>
            <a:endParaRPr lang="en-US" sz="1050" dirty="0"/>
          </a:p>
        </p:txBody>
      </p:sp>
      <p:sp>
        <p:nvSpPr>
          <p:cNvPr id="19" name="Shape 17"/>
          <p:cNvSpPr/>
          <p:nvPr/>
        </p:nvSpPr>
        <p:spPr>
          <a:xfrm>
            <a:off x="3703320" y="2788920"/>
            <a:ext cx="2286000" cy="1463040"/>
          </a:xfrm>
          <a:prstGeom prst="roundRect">
            <a:avLst>
              <a:gd name="adj" fmla="val 5000"/>
            </a:avLst>
          </a:prstGeom>
          <a:solidFill>
            <a:srgbClr val="065A82"/>
          </a:solidFill>
          <a:ln/>
        </p:spPr>
      </p:sp>
      <p:sp>
        <p:nvSpPr>
          <p:cNvPr id="20" name="Text 18"/>
          <p:cNvSpPr/>
          <p:nvPr/>
        </p:nvSpPr>
        <p:spPr>
          <a:xfrm>
            <a:off x="3840480" y="2880360"/>
            <a:ext cx="201168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stg_jaffle_shop__*.sql</a:t>
            </a:r>
            <a:endParaRPr lang="en-US" sz="1250" dirty="0"/>
          </a:p>
        </p:txBody>
      </p:sp>
      <p:sp>
        <p:nvSpPr>
          <p:cNvPr id="21" name="Text 19"/>
          <p:cNvSpPr/>
          <p:nvPr/>
        </p:nvSpPr>
        <p:spPr>
          <a:xfrm>
            <a:off x="3840480" y="3246120"/>
            <a:ext cx="2011680" cy="914400"/>
          </a:xfrm>
          <a:prstGeom prst="rect">
            <a:avLst/>
          </a:prstGeom>
          <a:noFill/>
          <a:ln/>
        </p:spPr>
        <p:txBody>
          <a:bodyPr wrap="square" rtlCol="0" anchor="ctr"/>
          <a:lstStyle/>
          <a:p>
            <a:pPr indent="0" marL="0">
              <a:lnSpc>
                <a:spcPct val="115000"/>
              </a:lnSpc>
              <a:buNone/>
            </a:pPr>
            <a:r>
              <a:rPr lang="en-US" sz="1050" dirty="0">
                <a:solidFill>
                  <a:srgbClr val="D9E9EF"/>
                </a:solidFill>
                <a:latin typeface="Calibri" pitchFamily="34" charset="0"/>
                <a:ea typeface="Calibri" pitchFamily="34" charset="-122"/>
                <a:cs typeface="Calibri" pitchFamily="34" charset="-120"/>
              </a:rPr>
              <a:t>1:1 with sources.</a:t>
            </a:r>
            <a:endParaRPr lang="en-US" sz="1050" dirty="0"/>
          </a:p>
          <a:p>
            <a:pPr indent="0" marL="0">
              <a:lnSpc>
                <a:spcPct val="115000"/>
              </a:lnSpc>
              <a:buNone/>
            </a:pPr>
            <a:r>
              <a:rPr lang="en-US" sz="1050" dirty="0">
                <a:solidFill>
                  <a:srgbClr val="D9E9EF"/>
                </a:solidFill>
                <a:latin typeface="Calibri" pitchFamily="34" charset="0"/>
                <a:ea typeface="Calibri" pitchFamily="34" charset="-122"/>
                <a:cs typeface="Calibri" pitchFamily="34" charset="-120"/>
              </a:rPr>
              <a:t>Renamed, cast, cents → dollars.</a:t>
            </a:r>
            <a:endParaRPr lang="en-US" sz="1050" dirty="0"/>
          </a:p>
        </p:txBody>
      </p:sp>
      <p:sp>
        <p:nvSpPr>
          <p:cNvPr id="22" name="Shape 20"/>
          <p:cNvSpPr/>
          <p:nvPr/>
        </p:nvSpPr>
        <p:spPr>
          <a:xfrm>
            <a:off x="6126480" y="3154680"/>
            <a:ext cx="502920" cy="365760"/>
          </a:xfrm>
          <a:prstGeom prst="rightArrow">
            <a:avLst/>
          </a:prstGeom>
          <a:solidFill>
            <a:srgbClr val="1C7293"/>
          </a:solidFill>
          <a:ln/>
        </p:spPr>
      </p:sp>
      <p:sp>
        <p:nvSpPr>
          <p:cNvPr id="23" name="Text 21"/>
          <p:cNvSpPr/>
          <p:nvPr/>
        </p:nvSpPr>
        <p:spPr>
          <a:xfrm>
            <a:off x="6766560" y="1600200"/>
            <a:ext cx="2286000" cy="274320"/>
          </a:xfrm>
          <a:prstGeom prst="rect">
            <a:avLst/>
          </a:prstGeom>
          <a:noFill/>
          <a:ln/>
        </p:spPr>
        <p:txBody>
          <a:bodyPr wrap="square" rtlCol="0" anchor="ctr"/>
          <a:lstStyle/>
          <a:p>
            <a:pPr indent="0" marL="0">
              <a:buNone/>
            </a:pPr>
            <a:r>
              <a:rPr lang="en-US" sz="1050" b="1" dirty="0">
                <a:solidFill>
                  <a:srgbClr val="5B6B76"/>
                </a:solidFill>
                <a:latin typeface="Calibri" pitchFamily="34" charset="0"/>
                <a:ea typeface="Calibri" pitchFamily="34" charset="-122"/>
                <a:cs typeface="Calibri" pitchFamily="34" charset="-120"/>
              </a:rPr>
              <a:t>INTERMEDIATE</a:t>
            </a:r>
            <a:endParaRPr lang="en-US" sz="1050" dirty="0"/>
          </a:p>
        </p:txBody>
      </p:sp>
      <p:sp>
        <p:nvSpPr>
          <p:cNvPr id="24" name="Shape 22"/>
          <p:cNvSpPr/>
          <p:nvPr/>
        </p:nvSpPr>
        <p:spPr>
          <a:xfrm>
            <a:off x="6766560" y="1965960"/>
            <a:ext cx="2286000" cy="365760"/>
          </a:xfrm>
          <a:prstGeom prst="roundRect">
            <a:avLst>
              <a:gd name="adj" fmla="val 12500"/>
            </a:avLst>
          </a:prstGeom>
          <a:solidFill>
            <a:srgbClr val="1C7293"/>
          </a:solidFill>
          <a:ln/>
        </p:spPr>
      </p:sp>
      <p:sp>
        <p:nvSpPr>
          <p:cNvPr id="25" name="Text 23"/>
          <p:cNvSpPr/>
          <p:nvPr/>
        </p:nvSpPr>
        <p:spPr>
          <a:xfrm>
            <a:off x="6876288" y="1965960"/>
            <a:ext cx="2066544" cy="365760"/>
          </a:xfrm>
          <a:prstGeom prst="rect">
            <a:avLst/>
          </a:prstGeom>
          <a:noFill/>
          <a:ln/>
        </p:spPr>
        <p:txBody>
          <a:bodyPr wrap="square"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int_sales_line</a:t>
            </a:r>
            <a:endParaRPr lang="en-US" sz="1000" dirty="0"/>
          </a:p>
        </p:txBody>
      </p:sp>
      <p:sp>
        <p:nvSpPr>
          <p:cNvPr id="26" name="Shape 24"/>
          <p:cNvSpPr/>
          <p:nvPr/>
        </p:nvSpPr>
        <p:spPr>
          <a:xfrm>
            <a:off x="6766560" y="2441448"/>
            <a:ext cx="2286000" cy="365760"/>
          </a:xfrm>
          <a:prstGeom prst="roundRect">
            <a:avLst>
              <a:gd name="adj" fmla="val 12500"/>
            </a:avLst>
          </a:prstGeom>
          <a:solidFill>
            <a:srgbClr val="1C7293"/>
          </a:solidFill>
          <a:ln/>
        </p:spPr>
      </p:sp>
      <p:sp>
        <p:nvSpPr>
          <p:cNvPr id="27" name="Text 25"/>
          <p:cNvSpPr/>
          <p:nvPr/>
        </p:nvSpPr>
        <p:spPr>
          <a:xfrm>
            <a:off x="6876288" y="2441448"/>
            <a:ext cx="2066544" cy="365760"/>
          </a:xfrm>
          <a:prstGeom prst="rect">
            <a:avLst/>
          </a:prstGeom>
          <a:noFill/>
          <a:ln/>
        </p:spPr>
        <p:txBody>
          <a:bodyPr wrap="square"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int_store_growth</a:t>
            </a:r>
            <a:endParaRPr lang="en-US" sz="1000" dirty="0"/>
          </a:p>
        </p:txBody>
      </p:sp>
      <p:sp>
        <p:nvSpPr>
          <p:cNvPr id="28" name="Shape 26"/>
          <p:cNvSpPr/>
          <p:nvPr/>
        </p:nvSpPr>
        <p:spPr>
          <a:xfrm>
            <a:off x="6766560" y="2916936"/>
            <a:ext cx="2286000" cy="365760"/>
          </a:xfrm>
          <a:prstGeom prst="roundRect">
            <a:avLst>
              <a:gd name="adj" fmla="val 12500"/>
            </a:avLst>
          </a:prstGeom>
          <a:solidFill>
            <a:srgbClr val="1C7293"/>
          </a:solidFill>
          <a:ln/>
        </p:spPr>
      </p:sp>
      <p:sp>
        <p:nvSpPr>
          <p:cNvPr id="29" name="Text 27"/>
          <p:cNvSpPr/>
          <p:nvPr/>
        </p:nvSpPr>
        <p:spPr>
          <a:xfrm>
            <a:off x="6876288" y="2916936"/>
            <a:ext cx="2066544" cy="365760"/>
          </a:xfrm>
          <a:prstGeom prst="rect">
            <a:avLst/>
          </a:prstGeom>
          <a:noFill/>
          <a:ln/>
        </p:spPr>
        <p:txBody>
          <a:bodyPr wrap="square"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int_revenue_concentration</a:t>
            </a:r>
            <a:endParaRPr lang="en-US" sz="1000" dirty="0"/>
          </a:p>
        </p:txBody>
      </p:sp>
      <p:sp>
        <p:nvSpPr>
          <p:cNvPr id="30" name="Shape 28"/>
          <p:cNvSpPr/>
          <p:nvPr/>
        </p:nvSpPr>
        <p:spPr>
          <a:xfrm>
            <a:off x="6766560" y="3392424"/>
            <a:ext cx="2286000" cy="365760"/>
          </a:xfrm>
          <a:prstGeom prst="roundRect">
            <a:avLst>
              <a:gd name="adj" fmla="val 12500"/>
            </a:avLst>
          </a:prstGeom>
          <a:solidFill>
            <a:srgbClr val="1C7293"/>
          </a:solidFill>
          <a:ln/>
        </p:spPr>
      </p:sp>
      <p:sp>
        <p:nvSpPr>
          <p:cNvPr id="31" name="Text 29"/>
          <p:cNvSpPr/>
          <p:nvPr/>
        </p:nvSpPr>
        <p:spPr>
          <a:xfrm>
            <a:off x="6876288" y="3392424"/>
            <a:ext cx="2066544" cy="365760"/>
          </a:xfrm>
          <a:prstGeom prst="rect">
            <a:avLst/>
          </a:prstGeom>
          <a:noFill/>
          <a:ln/>
        </p:spPr>
        <p:txBody>
          <a:bodyPr wrap="square"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int_price_sensitivity</a:t>
            </a:r>
            <a:endParaRPr lang="en-US" sz="1000" dirty="0"/>
          </a:p>
        </p:txBody>
      </p:sp>
      <p:sp>
        <p:nvSpPr>
          <p:cNvPr id="32" name="Shape 30"/>
          <p:cNvSpPr/>
          <p:nvPr/>
        </p:nvSpPr>
        <p:spPr>
          <a:xfrm>
            <a:off x="6766560" y="3867912"/>
            <a:ext cx="2286000" cy="365760"/>
          </a:xfrm>
          <a:prstGeom prst="roundRect">
            <a:avLst>
              <a:gd name="adj" fmla="val 12500"/>
            </a:avLst>
          </a:prstGeom>
          <a:solidFill>
            <a:srgbClr val="1C7293"/>
          </a:solidFill>
          <a:ln/>
        </p:spPr>
      </p:sp>
      <p:sp>
        <p:nvSpPr>
          <p:cNvPr id="33" name="Text 31"/>
          <p:cNvSpPr/>
          <p:nvPr/>
        </p:nvSpPr>
        <p:spPr>
          <a:xfrm>
            <a:off x="6876288" y="3867912"/>
            <a:ext cx="2066544" cy="365760"/>
          </a:xfrm>
          <a:prstGeom prst="rect">
            <a:avLst/>
          </a:prstGeom>
          <a:noFill/>
          <a:ln/>
        </p:spPr>
        <p:txBody>
          <a:bodyPr wrap="square"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int_perishable_exposure</a:t>
            </a:r>
            <a:endParaRPr lang="en-US" sz="1000" dirty="0"/>
          </a:p>
        </p:txBody>
      </p:sp>
      <p:sp>
        <p:nvSpPr>
          <p:cNvPr id="34" name="Shape 32"/>
          <p:cNvSpPr/>
          <p:nvPr/>
        </p:nvSpPr>
        <p:spPr>
          <a:xfrm>
            <a:off x="9189720" y="3154680"/>
            <a:ext cx="502920" cy="365760"/>
          </a:xfrm>
          <a:prstGeom prst="rightArrow">
            <a:avLst/>
          </a:prstGeom>
          <a:solidFill>
            <a:srgbClr val="1C7293"/>
          </a:solidFill>
          <a:ln/>
        </p:spPr>
      </p:sp>
      <p:sp>
        <p:nvSpPr>
          <p:cNvPr id="35" name="Text 33"/>
          <p:cNvSpPr/>
          <p:nvPr/>
        </p:nvSpPr>
        <p:spPr>
          <a:xfrm>
            <a:off x="9829800" y="1600200"/>
            <a:ext cx="1810512" cy="274320"/>
          </a:xfrm>
          <a:prstGeom prst="rect">
            <a:avLst/>
          </a:prstGeom>
          <a:noFill/>
          <a:ln/>
        </p:spPr>
        <p:txBody>
          <a:bodyPr wrap="square" rtlCol="0" anchor="ctr"/>
          <a:lstStyle/>
          <a:p>
            <a:pPr indent="0" marL="0">
              <a:buNone/>
            </a:pPr>
            <a:r>
              <a:rPr lang="en-US" sz="1050" b="1" dirty="0">
                <a:solidFill>
                  <a:srgbClr val="5B6B76"/>
                </a:solidFill>
                <a:latin typeface="Calibri" pitchFamily="34" charset="0"/>
                <a:ea typeface="Calibri" pitchFamily="34" charset="-122"/>
                <a:cs typeface="Calibri" pitchFamily="34" charset="-120"/>
              </a:rPr>
              <a:t>MARTS</a:t>
            </a:r>
            <a:endParaRPr lang="en-US" sz="1050" dirty="0"/>
          </a:p>
        </p:txBody>
      </p:sp>
      <p:sp>
        <p:nvSpPr>
          <p:cNvPr id="36" name="Shape 34"/>
          <p:cNvSpPr/>
          <p:nvPr/>
        </p:nvSpPr>
        <p:spPr>
          <a:xfrm>
            <a:off x="9829800" y="2148840"/>
            <a:ext cx="1810512" cy="685800"/>
          </a:xfrm>
          <a:prstGeom prst="roundRect">
            <a:avLst>
              <a:gd name="adj" fmla="val 8000"/>
            </a:avLst>
          </a:prstGeom>
          <a:solidFill>
            <a:srgbClr val="F4F8FA"/>
          </a:solidFill>
          <a:ln w="12700">
            <a:solidFill>
              <a:srgbClr val="D7E2E6"/>
            </a:solidFill>
            <a:prstDash val="solid"/>
          </a:ln>
        </p:spPr>
      </p:sp>
      <p:sp>
        <p:nvSpPr>
          <p:cNvPr id="37" name="Text 35"/>
          <p:cNvSpPr/>
          <p:nvPr/>
        </p:nvSpPr>
        <p:spPr>
          <a:xfrm>
            <a:off x="9966960" y="2148840"/>
            <a:ext cx="1536192" cy="685800"/>
          </a:xfrm>
          <a:prstGeom prst="rect">
            <a:avLst/>
          </a:prstGeom>
          <a:noFill/>
          <a:ln/>
        </p:spPr>
        <p:txBody>
          <a:bodyPr wrap="square" rtlCol="0" anchor="ctr"/>
          <a:lstStyle/>
          <a:p>
            <a:pPr indent="0" marL="0">
              <a:buNone/>
            </a:pPr>
            <a:r>
              <a:rPr lang="en-US" sz="1150" dirty="0">
                <a:solidFill>
                  <a:srgbClr val="16222A"/>
                </a:solidFill>
                <a:latin typeface="Courier New" pitchFamily="34" charset="0"/>
                <a:ea typeface="Courier New" pitchFamily="34" charset="-122"/>
                <a:cs typeface="Courier New" pitchFamily="34" charset="-120"/>
              </a:rPr>
              <a:t>dim_store / dim_product</a:t>
            </a:r>
            <a:endParaRPr lang="en-US" sz="1150" dirty="0"/>
          </a:p>
        </p:txBody>
      </p:sp>
      <p:sp>
        <p:nvSpPr>
          <p:cNvPr id="38" name="Shape 36"/>
          <p:cNvSpPr/>
          <p:nvPr/>
        </p:nvSpPr>
        <p:spPr>
          <a:xfrm>
            <a:off x="9829800" y="2971800"/>
            <a:ext cx="1810512" cy="685800"/>
          </a:xfrm>
          <a:prstGeom prst="roundRect">
            <a:avLst>
              <a:gd name="adj" fmla="val 8000"/>
            </a:avLst>
          </a:prstGeom>
          <a:solidFill>
            <a:srgbClr val="F4F8FA"/>
          </a:solidFill>
          <a:ln w="12700">
            <a:solidFill>
              <a:srgbClr val="D7E2E6"/>
            </a:solidFill>
            <a:prstDash val="solid"/>
          </a:ln>
        </p:spPr>
      </p:sp>
      <p:sp>
        <p:nvSpPr>
          <p:cNvPr id="39" name="Text 37"/>
          <p:cNvSpPr/>
          <p:nvPr/>
        </p:nvSpPr>
        <p:spPr>
          <a:xfrm>
            <a:off x="9966960" y="2971800"/>
            <a:ext cx="1536192" cy="685800"/>
          </a:xfrm>
          <a:prstGeom prst="rect">
            <a:avLst/>
          </a:prstGeom>
          <a:noFill/>
          <a:ln/>
        </p:spPr>
        <p:txBody>
          <a:bodyPr wrap="square" rtlCol="0" anchor="ctr"/>
          <a:lstStyle/>
          <a:p>
            <a:pPr indent="0" marL="0">
              <a:buNone/>
            </a:pPr>
            <a:r>
              <a:rPr lang="en-US" sz="1150" dirty="0">
                <a:solidFill>
                  <a:srgbClr val="16222A"/>
                </a:solidFill>
                <a:latin typeface="Courier New" pitchFamily="34" charset="0"/>
                <a:ea typeface="Courier New" pitchFamily="34" charset="-122"/>
                <a:cs typeface="Courier New" pitchFamily="34" charset="-120"/>
              </a:rPr>
              <a:t>fct_sales_line</a:t>
            </a:r>
            <a:endParaRPr lang="en-US" sz="1150" dirty="0"/>
          </a:p>
        </p:txBody>
      </p:sp>
      <p:sp>
        <p:nvSpPr>
          <p:cNvPr id="40" name="Shape 38"/>
          <p:cNvSpPr/>
          <p:nvPr/>
        </p:nvSpPr>
        <p:spPr>
          <a:xfrm>
            <a:off x="9829800" y="3794760"/>
            <a:ext cx="1810512" cy="822960"/>
          </a:xfrm>
          <a:prstGeom prst="roundRect">
            <a:avLst>
              <a:gd name="adj" fmla="val 6667"/>
            </a:avLst>
          </a:prstGeom>
          <a:solidFill>
            <a:srgbClr val="21295C"/>
          </a:solidFill>
          <a:ln/>
        </p:spPr>
      </p:sp>
      <p:sp>
        <p:nvSpPr>
          <p:cNvPr id="41" name="Text 39"/>
          <p:cNvSpPr/>
          <p:nvPr/>
        </p:nvSpPr>
        <p:spPr>
          <a:xfrm>
            <a:off x="9966960" y="3794760"/>
            <a:ext cx="1536192" cy="822960"/>
          </a:xfrm>
          <a:prstGeom prst="rect">
            <a:avLst/>
          </a:prstGeom>
          <a:noFill/>
          <a:ln/>
        </p:spPr>
        <p:txBody>
          <a:bodyPr wrap="square" rtlCol="0" anchor="ctr"/>
          <a:lstStyle/>
          <a:p>
            <a:pPr indent="0" marL="0">
              <a:lnSpc>
                <a:spcPct val="110000"/>
              </a:lnSpc>
              <a:buNone/>
            </a:pPr>
            <a:r>
              <a:rPr lang="en-US" sz="1200" b="1" dirty="0">
                <a:solidFill>
                  <a:srgbClr val="5FBFB0"/>
                </a:solidFill>
                <a:latin typeface="Calibri" pitchFamily="34" charset="0"/>
                <a:ea typeface="Calibri" pitchFamily="34" charset="-122"/>
                <a:cs typeface="Calibri" pitchFamily="34" charset="-120"/>
              </a:rPr>
              <a:t>fct_store_scorecard</a:t>
            </a:r>
            <a:endParaRPr lang="en-US" sz="1200" dirty="0"/>
          </a:p>
          <a:p>
            <a:pPr indent="0" marL="0">
              <a:lnSpc>
                <a:spcPct val="110000"/>
              </a:lnSpc>
              <a:buNone/>
            </a:pPr>
            <a:r>
              <a:rPr lang="en-US" sz="1200" b="1" dirty="0">
                <a:solidFill>
                  <a:srgbClr val="5FBFB0"/>
                </a:solidFill>
                <a:latin typeface="Calibri" pitchFamily="34" charset="0"/>
                <a:ea typeface="Calibri" pitchFamily="34" charset="-122"/>
                <a:cs typeface="Calibri" pitchFamily="34" charset="-120"/>
              </a:rPr>
              <a:t>(the payoff model)</a:t>
            </a:r>
            <a:endParaRPr lang="en-US" sz="1200" dirty="0"/>
          </a:p>
        </p:txBody>
      </p:sp>
      <p:sp>
        <p:nvSpPr>
          <p:cNvPr id="42" name="Text 40"/>
          <p:cNvSpPr/>
          <p:nvPr/>
        </p:nvSpPr>
        <p:spPr>
          <a:xfrm>
            <a:off x="548640" y="5943600"/>
            <a:ext cx="10972800" cy="457200"/>
          </a:xfrm>
          <a:prstGeom prst="rect">
            <a:avLst/>
          </a:prstGeom>
          <a:noFill/>
          <a:ln/>
        </p:spPr>
        <p:txBody>
          <a:bodyPr wrap="square" rtlCol="0" anchor="ctr"/>
          <a:lstStyle/>
          <a:p>
            <a:pPr indent="0" marL="0">
              <a:buNone/>
            </a:pPr>
            <a:r>
              <a:rPr lang="en-US" sz="1150" i="1" dirty="0">
                <a:solidFill>
                  <a:srgbClr val="5B6B76"/>
                </a:solidFill>
                <a:latin typeface="Calibri" pitchFamily="34" charset="0"/>
                <a:ea typeface="Calibri" pitchFamily="34" charset="-122"/>
                <a:cs typeface="Calibri" pitchFamily="34" charset="-120"/>
              </a:rPr>
              <a:t>intermediate/ = single-purpose calculation steps  ·  marts/ = final, business-facing models. All thresholds computed dynamically — nothing hardcoded.</a:t>
            </a:r>
            <a:endParaRPr lang="en-US" sz="1150" dirty="0"/>
          </a:p>
        </p:txBody>
      </p:sp>
      <p:sp>
        <p:nvSpPr>
          <p:cNvPr id="43" name="Text 41"/>
          <p:cNvSpPr/>
          <p:nvPr/>
        </p:nvSpPr>
        <p:spPr>
          <a:xfrm>
            <a:off x="548640" y="6537960"/>
            <a:ext cx="7315200" cy="274320"/>
          </a:xfrm>
          <a:prstGeom prst="rect">
            <a:avLst/>
          </a:prstGeom>
          <a:noFill/>
          <a:ln/>
        </p:spPr>
        <p:txBody>
          <a:bodyPr wrap="square" rtlCol="0" anchor="ctr"/>
          <a:lstStyle/>
          <a:p>
            <a:pPr indent="0" marL="0">
              <a:buNone/>
            </a:pPr>
            <a:r>
              <a:rPr lang="en-US" sz="900" dirty="0">
                <a:solidFill>
                  <a:srgbClr val="5B6B76"/>
                </a:solidFill>
                <a:latin typeface="Calibri" pitchFamily="34" charset="0"/>
                <a:ea typeface="Calibri" pitchFamily="34" charset="-122"/>
                <a:cs typeface="Calibri" pitchFamily="34" charset="-120"/>
              </a:rPr>
              <a:t>Store Growth Readiness Scorecard  ·  Jaffle Shop dbt Project</a:t>
            </a:r>
            <a:endParaRPr lang="en-US" sz="900" dirty="0"/>
          </a:p>
        </p:txBody>
      </p:sp>
      <p:sp>
        <p:nvSpPr>
          <p:cNvPr id="44" name="Text 42"/>
          <p:cNvSpPr/>
          <p:nvPr/>
        </p:nvSpPr>
        <p:spPr>
          <a:xfrm>
            <a:off x="11365992" y="6537960"/>
            <a:ext cx="36576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371600" y="4389120"/>
            <a:ext cx="4572000" cy="4572000"/>
          </a:xfrm>
          <a:prstGeom prst="ellipse">
            <a:avLst/>
          </a:prstGeom>
          <a:solidFill>
            <a:srgbClr val="065A82">
              <a:alpha val="40000"/>
            </a:srgbClr>
          </a:solidFill>
          <a:ln/>
        </p:spPr>
      </p:sp>
      <p:sp>
        <p:nvSpPr>
          <p:cNvPr id="3" name="Text 1"/>
          <p:cNvSpPr/>
          <p:nvPr/>
        </p:nvSpPr>
        <p:spPr>
          <a:xfrm>
            <a:off x="548640" y="548640"/>
            <a:ext cx="7315200" cy="320040"/>
          </a:xfrm>
          <a:prstGeom prst="rect">
            <a:avLst/>
          </a:prstGeom>
          <a:noFill/>
          <a:ln/>
        </p:spPr>
        <p:txBody>
          <a:bodyPr wrap="square" rtlCol="0" anchor="ctr"/>
          <a:lstStyle/>
          <a:p>
            <a:pPr indent="0" marL="0">
              <a:buNone/>
            </a:pPr>
            <a:r>
              <a:rPr lang="en-US" sz="1300" b="1" spc="200" kern="0" dirty="0">
                <a:solidFill>
                  <a:srgbClr val="5FBFB0"/>
                </a:solidFill>
                <a:latin typeface="Calibri" pitchFamily="34" charset="0"/>
                <a:ea typeface="Calibri" pitchFamily="34" charset="-122"/>
                <a:cs typeface="Calibri" pitchFamily="34" charset="-120"/>
              </a:rPr>
              <a:t>A REALITY CHECK IN THE DATA</a:t>
            </a:r>
            <a:endParaRPr lang="en-US" sz="1300" dirty="0"/>
          </a:p>
        </p:txBody>
      </p:sp>
      <p:sp>
        <p:nvSpPr>
          <p:cNvPr id="4" name="Text 2"/>
          <p:cNvSpPr/>
          <p:nvPr/>
        </p:nvSpPr>
        <p:spPr>
          <a:xfrm>
            <a:off x="548640" y="914400"/>
            <a:ext cx="10515600" cy="82296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seed data only tells one store's story</a:t>
            </a:r>
            <a:endParaRPr lang="en-US" sz="2800" dirty="0"/>
          </a:p>
        </p:txBody>
      </p:sp>
      <p:sp>
        <p:nvSpPr>
          <p:cNvPr id="5" name="Text 3"/>
          <p:cNvSpPr/>
          <p:nvPr/>
        </p:nvSpPr>
        <p:spPr>
          <a:xfrm>
            <a:off x="548640" y="2194560"/>
            <a:ext cx="2514600" cy="1097280"/>
          </a:xfrm>
          <a:prstGeom prst="rect">
            <a:avLst/>
          </a:prstGeom>
          <a:noFill/>
          <a:ln/>
        </p:spPr>
        <p:txBody>
          <a:bodyPr wrap="square" rtlCol="0" anchor="ctr"/>
          <a:lstStyle/>
          <a:p>
            <a:pPr algn="l" indent="0" marL="0">
              <a:buNone/>
            </a:pPr>
            <a:r>
              <a:rPr lang="en-US" sz="6000" b="1" dirty="0">
                <a:solidFill>
                  <a:srgbClr val="5FBFB0"/>
                </a:solidFill>
                <a:latin typeface="Cambria" pitchFamily="34" charset="0"/>
                <a:ea typeface="Cambria" pitchFamily="34" charset="-122"/>
                <a:cs typeface="Cambria" pitchFamily="34" charset="-120"/>
              </a:rPr>
              <a:t>686</a:t>
            </a:r>
            <a:endParaRPr lang="en-US" sz="6000" dirty="0"/>
          </a:p>
        </p:txBody>
      </p:sp>
      <p:sp>
        <p:nvSpPr>
          <p:cNvPr id="6" name="Text 4"/>
          <p:cNvSpPr/>
          <p:nvPr/>
        </p:nvSpPr>
        <p:spPr>
          <a:xfrm>
            <a:off x="548640" y="3246120"/>
            <a:ext cx="2514600" cy="640080"/>
          </a:xfrm>
          <a:prstGeom prst="rect">
            <a:avLst/>
          </a:prstGeom>
          <a:noFill/>
          <a:ln/>
        </p:spPr>
        <p:txBody>
          <a:bodyPr wrap="square" rtlCol="0" anchor="ctr"/>
          <a:lstStyle/>
          <a:p>
            <a:pPr indent="0" marL="0">
              <a:lnSpc>
                <a:spcPct val="110000"/>
              </a:lnSpc>
              <a:buNone/>
            </a:pPr>
            <a:r>
              <a:rPr lang="en-US" sz="1300" dirty="0">
                <a:solidFill>
                  <a:srgbClr val="C8D8DF"/>
                </a:solidFill>
                <a:latin typeface="Calibri" pitchFamily="34" charset="0"/>
                <a:ea typeface="Calibri" pitchFamily="34" charset="-122"/>
                <a:cs typeface="Calibri" pitchFamily="34" charset="-120"/>
              </a:rPr>
              <a:t>total orders</a:t>
            </a:r>
            <a:endParaRPr lang="en-US" sz="1300" dirty="0"/>
          </a:p>
        </p:txBody>
      </p:sp>
      <p:sp>
        <p:nvSpPr>
          <p:cNvPr id="7" name="Text 5"/>
          <p:cNvSpPr/>
          <p:nvPr/>
        </p:nvSpPr>
        <p:spPr>
          <a:xfrm>
            <a:off x="3291840" y="2194560"/>
            <a:ext cx="2514600" cy="1097280"/>
          </a:xfrm>
          <a:prstGeom prst="rect">
            <a:avLst/>
          </a:prstGeom>
          <a:noFill/>
          <a:ln/>
        </p:spPr>
        <p:txBody>
          <a:bodyPr wrap="square" rtlCol="0" anchor="ctr"/>
          <a:lstStyle/>
          <a:p>
            <a:pPr algn="l" indent="0" marL="0">
              <a:buNone/>
            </a:pPr>
            <a:r>
              <a:rPr lang="en-US" sz="6000" b="1" dirty="0">
                <a:solidFill>
                  <a:srgbClr val="5FBFB0"/>
                </a:solidFill>
                <a:latin typeface="Cambria" pitchFamily="34" charset="0"/>
                <a:ea typeface="Cambria" pitchFamily="34" charset="-122"/>
                <a:cs typeface="Cambria" pitchFamily="34" charset="-120"/>
              </a:rPr>
              <a:t>1</a:t>
            </a:r>
            <a:endParaRPr lang="en-US" sz="6000" dirty="0"/>
          </a:p>
        </p:txBody>
      </p:sp>
      <p:sp>
        <p:nvSpPr>
          <p:cNvPr id="8" name="Text 6"/>
          <p:cNvSpPr/>
          <p:nvPr/>
        </p:nvSpPr>
        <p:spPr>
          <a:xfrm>
            <a:off x="3291840" y="3246120"/>
            <a:ext cx="2514600" cy="640080"/>
          </a:xfrm>
          <a:prstGeom prst="rect">
            <a:avLst/>
          </a:prstGeom>
          <a:noFill/>
          <a:ln/>
        </p:spPr>
        <p:txBody>
          <a:bodyPr wrap="square" rtlCol="0" anchor="ctr"/>
          <a:lstStyle/>
          <a:p>
            <a:pPr indent="0" marL="0">
              <a:lnSpc>
                <a:spcPct val="110000"/>
              </a:lnSpc>
              <a:buNone/>
            </a:pPr>
            <a:r>
              <a:rPr lang="en-US" sz="1300" dirty="0">
                <a:solidFill>
                  <a:srgbClr val="C8D8DF"/>
                </a:solidFill>
                <a:latin typeface="Calibri" pitchFamily="34" charset="0"/>
                <a:ea typeface="Calibri" pitchFamily="34" charset="-122"/>
                <a:cs typeface="Calibri" pitchFamily="34" charset="-120"/>
              </a:rPr>
              <a:t>store with any orders</a:t>
            </a:r>
            <a:endParaRPr lang="en-US" sz="1300" dirty="0"/>
          </a:p>
          <a:p>
            <a:pPr indent="0" marL="0">
              <a:lnSpc>
                <a:spcPct val="110000"/>
              </a:lnSpc>
              <a:buNone/>
            </a:pPr>
            <a:r>
              <a:rPr lang="en-US" sz="1300" dirty="0">
                <a:solidFill>
                  <a:srgbClr val="C8D8DF"/>
                </a:solidFill>
                <a:latin typeface="Calibri" pitchFamily="34" charset="0"/>
                <a:ea typeface="Calibri" pitchFamily="34" charset="-122"/>
                <a:cs typeface="Calibri" pitchFamily="34" charset="-120"/>
              </a:rPr>
              <a:t>(Philadelphia)</a:t>
            </a:r>
            <a:endParaRPr lang="en-US" sz="1300" dirty="0"/>
          </a:p>
        </p:txBody>
      </p:sp>
      <p:sp>
        <p:nvSpPr>
          <p:cNvPr id="9" name="Text 7"/>
          <p:cNvSpPr/>
          <p:nvPr/>
        </p:nvSpPr>
        <p:spPr>
          <a:xfrm>
            <a:off x="6035040" y="2194560"/>
            <a:ext cx="2514600" cy="1097280"/>
          </a:xfrm>
          <a:prstGeom prst="rect">
            <a:avLst/>
          </a:prstGeom>
          <a:noFill/>
          <a:ln/>
        </p:spPr>
        <p:txBody>
          <a:bodyPr wrap="square" rtlCol="0" anchor="ctr"/>
          <a:lstStyle/>
          <a:p>
            <a:pPr algn="l" indent="0" marL="0">
              <a:buNone/>
            </a:pPr>
            <a:r>
              <a:rPr lang="en-US" sz="6000" b="1" dirty="0">
                <a:solidFill>
                  <a:srgbClr val="5FBFB0"/>
                </a:solidFill>
                <a:latin typeface="Cambria" pitchFamily="34" charset="0"/>
                <a:ea typeface="Cambria" pitchFamily="34" charset="-122"/>
                <a:cs typeface="Cambria" pitchFamily="34" charset="-120"/>
              </a:rPr>
              <a:t>16</a:t>
            </a:r>
            <a:endParaRPr lang="en-US" sz="6000" dirty="0"/>
          </a:p>
        </p:txBody>
      </p:sp>
      <p:sp>
        <p:nvSpPr>
          <p:cNvPr id="10" name="Text 8"/>
          <p:cNvSpPr/>
          <p:nvPr/>
        </p:nvSpPr>
        <p:spPr>
          <a:xfrm>
            <a:off x="6035040" y="3246120"/>
            <a:ext cx="2514600" cy="640080"/>
          </a:xfrm>
          <a:prstGeom prst="rect">
            <a:avLst/>
          </a:prstGeom>
          <a:noFill/>
          <a:ln/>
        </p:spPr>
        <p:txBody>
          <a:bodyPr wrap="square" rtlCol="0" anchor="ctr"/>
          <a:lstStyle/>
          <a:p>
            <a:pPr indent="0" marL="0">
              <a:lnSpc>
                <a:spcPct val="110000"/>
              </a:lnSpc>
              <a:buNone/>
            </a:pPr>
            <a:r>
              <a:rPr lang="en-US" sz="1300" dirty="0">
                <a:solidFill>
                  <a:srgbClr val="C8D8DF"/>
                </a:solidFill>
                <a:latin typeface="Calibri" pitchFamily="34" charset="0"/>
                <a:ea typeface="Calibri" pitchFamily="34" charset="-122"/>
                <a:cs typeface="Calibri" pitchFamily="34" charset="-120"/>
              </a:rPr>
              <a:t>days of order history</a:t>
            </a:r>
            <a:endParaRPr lang="en-US" sz="1300" dirty="0"/>
          </a:p>
        </p:txBody>
      </p:sp>
      <p:sp>
        <p:nvSpPr>
          <p:cNvPr id="11" name="Text 9"/>
          <p:cNvSpPr/>
          <p:nvPr/>
        </p:nvSpPr>
        <p:spPr>
          <a:xfrm>
            <a:off x="8778240" y="2194560"/>
            <a:ext cx="2514600" cy="1097280"/>
          </a:xfrm>
          <a:prstGeom prst="rect">
            <a:avLst/>
          </a:prstGeom>
          <a:noFill/>
          <a:ln/>
        </p:spPr>
        <p:txBody>
          <a:bodyPr wrap="square" rtlCol="0" anchor="ctr"/>
          <a:lstStyle/>
          <a:p>
            <a:pPr algn="l" indent="0" marL="0">
              <a:buNone/>
            </a:pPr>
            <a:r>
              <a:rPr lang="en-US" sz="6000" b="1" dirty="0">
                <a:solidFill>
                  <a:srgbClr val="5FBFB0"/>
                </a:solidFill>
                <a:latin typeface="Cambria" pitchFamily="34" charset="0"/>
                <a:ea typeface="Cambria" pitchFamily="34" charset="-122"/>
                <a:cs typeface="Cambria" pitchFamily="34" charset="-120"/>
              </a:rPr>
              <a:t>5</a:t>
            </a:r>
            <a:endParaRPr lang="en-US" sz="6000" dirty="0"/>
          </a:p>
        </p:txBody>
      </p:sp>
      <p:sp>
        <p:nvSpPr>
          <p:cNvPr id="12" name="Text 10"/>
          <p:cNvSpPr/>
          <p:nvPr/>
        </p:nvSpPr>
        <p:spPr>
          <a:xfrm>
            <a:off x="8778240" y="3246120"/>
            <a:ext cx="2514600" cy="640080"/>
          </a:xfrm>
          <a:prstGeom prst="rect">
            <a:avLst/>
          </a:prstGeom>
          <a:noFill/>
          <a:ln/>
        </p:spPr>
        <p:txBody>
          <a:bodyPr wrap="square" rtlCol="0" anchor="ctr"/>
          <a:lstStyle/>
          <a:p>
            <a:pPr indent="0" marL="0">
              <a:lnSpc>
                <a:spcPct val="110000"/>
              </a:lnSpc>
              <a:buNone/>
            </a:pPr>
            <a:r>
              <a:rPr lang="en-US" sz="1300" dirty="0">
                <a:solidFill>
                  <a:srgbClr val="C8D8DF"/>
                </a:solidFill>
                <a:latin typeface="Calibri" pitchFamily="34" charset="0"/>
                <a:ea typeface="Calibri" pitchFamily="34" charset="-122"/>
                <a:cs typeface="Calibri" pitchFamily="34" charset="-120"/>
              </a:rPr>
              <a:t>stores with zero orders</a:t>
            </a:r>
            <a:endParaRPr lang="en-US" sz="1300" dirty="0"/>
          </a:p>
        </p:txBody>
      </p:sp>
      <p:sp>
        <p:nvSpPr>
          <p:cNvPr id="13" name="Shape 11"/>
          <p:cNvSpPr/>
          <p:nvPr/>
        </p:nvSpPr>
        <p:spPr>
          <a:xfrm>
            <a:off x="548640" y="4160520"/>
            <a:ext cx="11091672" cy="1737360"/>
          </a:xfrm>
          <a:prstGeom prst="roundRect">
            <a:avLst>
              <a:gd name="adj" fmla="val 4211"/>
            </a:avLst>
          </a:prstGeom>
          <a:solidFill>
            <a:srgbClr val="1A2245"/>
          </a:solidFill>
          <a:ln w="12700">
            <a:solidFill>
              <a:srgbClr val="1C7293"/>
            </a:solidFill>
            <a:prstDash val="solid"/>
          </a:ln>
        </p:spPr>
      </p:sp>
      <p:sp>
        <p:nvSpPr>
          <p:cNvPr id="14" name="Text 12"/>
          <p:cNvSpPr/>
          <p:nvPr/>
        </p:nvSpPr>
        <p:spPr>
          <a:xfrm>
            <a:off x="868680" y="4343400"/>
            <a:ext cx="10451592" cy="4114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This is a limitation of the seed data, not the model.</a:t>
            </a:r>
            <a:endParaRPr lang="en-US" sz="1500" dirty="0"/>
          </a:p>
        </p:txBody>
      </p:sp>
      <p:sp>
        <p:nvSpPr>
          <p:cNvPr id="15" name="Text 13"/>
          <p:cNvSpPr/>
          <p:nvPr/>
        </p:nvSpPr>
        <p:spPr>
          <a:xfrm>
            <a:off x="868680" y="4754880"/>
            <a:ext cx="10451592" cy="1005840"/>
          </a:xfrm>
          <a:prstGeom prst="rect">
            <a:avLst/>
          </a:prstGeom>
          <a:noFill/>
          <a:ln/>
        </p:spPr>
        <p:txBody>
          <a:bodyPr wrap="square" rtlCol="0" anchor="ctr"/>
          <a:lstStyle/>
          <a:p>
            <a:pPr indent="0" marL="0">
              <a:lnSpc>
                <a:spcPct val="125000"/>
              </a:lnSpc>
              <a:buNone/>
            </a:pPr>
            <a:r>
              <a:rPr lang="en-US" sz="1250" dirty="0">
                <a:solidFill>
                  <a:srgbClr val="D9E9EF"/>
                </a:solidFill>
                <a:latin typeface="Calibri" pitchFamily="34" charset="0"/>
                <a:ea typeface="Calibri" pitchFamily="34" charset="-122"/>
                <a:cs typeface="Calibri" pitchFamily="34" charset="-120"/>
              </a:rPr>
              <a:t>Every signal was built and tested to work across any number of stores. Stores with no order data correctly return null scores — never a misleading 0. The scorecard on the next slides reflects what the framework produces for the one store we do have data on.</a:t>
            </a:r>
            <a:endParaRPr lang="en-US" sz="1250" dirty="0"/>
          </a:p>
        </p:txBody>
      </p:sp>
      <p:sp>
        <p:nvSpPr>
          <p:cNvPr id="16" name="Text 14"/>
          <p:cNvSpPr/>
          <p:nvPr/>
        </p:nvSpPr>
        <p:spPr>
          <a:xfrm>
            <a:off x="548640" y="6537960"/>
            <a:ext cx="7315200" cy="274320"/>
          </a:xfrm>
          <a:prstGeom prst="rect">
            <a:avLst/>
          </a:prstGeom>
          <a:noFill/>
          <a:ln/>
        </p:spPr>
        <p:txBody>
          <a:bodyPr wrap="square" rtlCol="0" anchor="ctr"/>
          <a:lstStyle/>
          <a:p>
            <a:pPr indent="0" marL="0">
              <a:buNone/>
            </a:pPr>
            <a:r>
              <a:rPr lang="en-US" sz="900" dirty="0">
                <a:solidFill>
                  <a:srgbClr val="5B6B76"/>
                </a:solidFill>
                <a:latin typeface="Calibri" pitchFamily="34" charset="0"/>
                <a:ea typeface="Calibri" pitchFamily="34" charset="-122"/>
                <a:cs typeface="Calibri" pitchFamily="34" charset="-120"/>
              </a:rPr>
              <a:t>Store Growth Readiness Scorecard  ·  Jaffle Shop dbt Project</a:t>
            </a:r>
            <a:endParaRPr lang="en-US" sz="900" dirty="0"/>
          </a:p>
        </p:txBody>
      </p:sp>
      <p:sp>
        <p:nvSpPr>
          <p:cNvPr id="17" name="Text 15"/>
          <p:cNvSpPr/>
          <p:nvPr/>
        </p:nvSpPr>
        <p:spPr>
          <a:xfrm>
            <a:off x="11365992" y="6537960"/>
            <a:ext cx="36576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BUILT ON TESTS, NOT ASSUMPTIONS</a:t>
            </a:r>
            <a:endParaRPr lang="en-US" sz="1300" dirty="0"/>
          </a:p>
        </p:txBody>
      </p:sp>
      <p:sp>
        <p:nvSpPr>
          <p:cNvPr id="3" name="Text 1"/>
          <p:cNvSpPr/>
          <p:nvPr/>
        </p:nvSpPr>
        <p:spPr>
          <a:xfrm>
            <a:off x="548640" y="777240"/>
            <a:ext cx="10058400" cy="64008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A test caught a real modeling bug</a:t>
            </a:r>
            <a:endParaRPr lang="en-US" sz="2800" dirty="0"/>
          </a:p>
        </p:txBody>
      </p:sp>
      <p:sp>
        <p:nvSpPr>
          <p:cNvPr id="4" name="Shape 2"/>
          <p:cNvSpPr/>
          <p:nvPr/>
        </p:nvSpPr>
        <p:spPr>
          <a:xfrm>
            <a:off x="548640" y="1965960"/>
            <a:ext cx="2514600" cy="3291840"/>
          </a:xfrm>
          <a:prstGeom prst="roundRect">
            <a:avLst>
              <a:gd name="adj" fmla="val 2909"/>
            </a:avLst>
          </a:prstGeom>
          <a:solidFill>
            <a:srgbClr val="F4F8FA"/>
          </a:solidFill>
          <a:ln/>
          <a:effectLst>
            <a:outerShdw sx="100000" sy="100000" kx="0" ky="0" algn="bl" rotWithShape="0" blurRad="76200" dist="25400" dir="5400000">
              <a:srgbClr val="1B1B1B">
                <a:alpha val="12000"/>
              </a:srgbClr>
            </a:outerShdw>
          </a:effectLst>
        </p:spPr>
      </p:sp>
      <p:sp>
        <p:nvSpPr>
          <p:cNvPr id="5" name="Shape 3"/>
          <p:cNvSpPr/>
          <p:nvPr/>
        </p:nvSpPr>
        <p:spPr>
          <a:xfrm>
            <a:off x="777240" y="2240280"/>
            <a:ext cx="502920" cy="502920"/>
          </a:xfrm>
          <a:prstGeom prst="ellipse">
            <a:avLst/>
          </a:prstGeom>
          <a:solidFill>
            <a:srgbClr val="065A82"/>
          </a:solidFill>
          <a:ln/>
        </p:spPr>
      </p:sp>
      <p:sp>
        <p:nvSpPr>
          <p:cNvPr id="6" name="Text 4"/>
          <p:cNvSpPr/>
          <p:nvPr/>
        </p:nvSpPr>
        <p:spPr>
          <a:xfrm>
            <a:off x="777240" y="224028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749808" y="2926080"/>
            <a:ext cx="2112264" cy="548640"/>
          </a:xfrm>
          <a:prstGeom prst="rect">
            <a:avLst/>
          </a:prstGeom>
          <a:noFill/>
          <a:ln/>
        </p:spPr>
        <p:txBody>
          <a:bodyPr wrap="square"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The assumption</a:t>
            </a:r>
            <a:endParaRPr lang="en-US" sz="1450" dirty="0"/>
          </a:p>
        </p:txBody>
      </p:sp>
      <p:sp>
        <p:nvSpPr>
          <p:cNvPr id="8" name="Text 6"/>
          <p:cNvSpPr/>
          <p:nvPr/>
        </p:nvSpPr>
        <p:spPr>
          <a:xfrm>
            <a:off x="749808" y="3474720"/>
            <a:ext cx="2112264" cy="1691640"/>
          </a:xfrm>
          <a:prstGeom prst="rect">
            <a:avLst/>
          </a:prstGeom>
          <a:noFill/>
          <a:ln/>
        </p:spPr>
        <p:txBody>
          <a:bodyPr wrap="square" rtlCol="0" anchor="ctr"/>
          <a:lstStyle/>
          <a:p>
            <a:pPr indent="0" marL="0">
              <a:lnSpc>
                <a:spcPct val="118000"/>
              </a:lnSpc>
              <a:buNone/>
            </a:pPr>
            <a:r>
              <a:rPr lang="en-US" sz="1100" dirty="0">
                <a:solidFill>
                  <a:srgbClr val="5B6B76"/>
                </a:solidFill>
                <a:latin typeface="Calibri" pitchFamily="34" charset="0"/>
                <a:ea typeface="Calibri" pitchFamily="34" charset="-122"/>
                <a:cs typeface="Calibri" pitchFamily="34" charset="-120"/>
              </a:rPr>
              <a:t>The sales fact table's grain was assumed to be (order_id, sku) — one row per product per order.</a:t>
            </a:r>
            <a:endParaRPr lang="en-US" sz="1100" dirty="0"/>
          </a:p>
        </p:txBody>
      </p:sp>
      <p:sp>
        <p:nvSpPr>
          <p:cNvPr id="9" name="Shape 7"/>
          <p:cNvSpPr/>
          <p:nvPr/>
        </p:nvSpPr>
        <p:spPr>
          <a:xfrm>
            <a:off x="3319272" y="1965960"/>
            <a:ext cx="2514600" cy="3291840"/>
          </a:xfrm>
          <a:prstGeom prst="roundRect">
            <a:avLst>
              <a:gd name="adj" fmla="val 2909"/>
            </a:avLst>
          </a:prstGeom>
          <a:solidFill>
            <a:srgbClr val="F4F8FA"/>
          </a:solidFill>
          <a:ln/>
          <a:effectLst>
            <a:outerShdw sx="100000" sy="100000" kx="0" ky="0" algn="bl" rotWithShape="0" blurRad="76200" dist="25400" dir="5400000">
              <a:srgbClr val="1B1B1B">
                <a:alpha val="12000"/>
              </a:srgbClr>
            </a:outerShdw>
          </a:effectLst>
        </p:spPr>
      </p:sp>
      <p:sp>
        <p:nvSpPr>
          <p:cNvPr id="10" name="Shape 8"/>
          <p:cNvSpPr/>
          <p:nvPr/>
        </p:nvSpPr>
        <p:spPr>
          <a:xfrm>
            <a:off x="3547872" y="2240280"/>
            <a:ext cx="502920" cy="502920"/>
          </a:xfrm>
          <a:prstGeom prst="ellipse">
            <a:avLst/>
          </a:prstGeom>
          <a:solidFill>
            <a:srgbClr val="065A82"/>
          </a:solidFill>
          <a:ln/>
        </p:spPr>
      </p:sp>
      <p:sp>
        <p:nvSpPr>
          <p:cNvPr id="11" name="Text 9"/>
          <p:cNvSpPr/>
          <p:nvPr/>
        </p:nvSpPr>
        <p:spPr>
          <a:xfrm>
            <a:off x="3547872" y="224028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3520440" y="2926080"/>
            <a:ext cx="2112264" cy="548640"/>
          </a:xfrm>
          <a:prstGeom prst="rect">
            <a:avLst/>
          </a:prstGeom>
          <a:noFill/>
          <a:ln/>
        </p:spPr>
        <p:txBody>
          <a:bodyPr wrap="square"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The test</a:t>
            </a:r>
            <a:endParaRPr lang="en-US" sz="1450" dirty="0"/>
          </a:p>
        </p:txBody>
      </p:sp>
      <p:sp>
        <p:nvSpPr>
          <p:cNvPr id="13" name="Text 11"/>
          <p:cNvSpPr/>
          <p:nvPr/>
        </p:nvSpPr>
        <p:spPr>
          <a:xfrm>
            <a:off x="3520440" y="3474720"/>
            <a:ext cx="2112264" cy="1691640"/>
          </a:xfrm>
          <a:prstGeom prst="rect">
            <a:avLst/>
          </a:prstGeom>
          <a:noFill/>
          <a:ln/>
        </p:spPr>
        <p:txBody>
          <a:bodyPr wrap="square" rtlCol="0" anchor="ctr"/>
          <a:lstStyle/>
          <a:p>
            <a:pPr indent="0" marL="0">
              <a:lnSpc>
                <a:spcPct val="118000"/>
              </a:lnSpc>
              <a:buNone/>
            </a:pPr>
            <a:r>
              <a:rPr lang="en-US" sz="1100" dirty="0">
                <a:solidFill>
                  <a:srgbClr val="5B6B76"/>
                </a:solidFill>
                <a:latin typeface="Calibri" pitchFamily="34" charset="0"/>
                <a:ea typeface="Calibri" pitchFamily="34" charset="-122"/>
                <a:cs typeface="Calibri" pitchFamily="34" charset="-120"/>
              </a:rPr>
              <a:t>A unique test was added on that combination, as part of core PK testing.</a:t>
            </a:r>
            <a:endParaRPr lang="en-US" sz="1100" dirty="0"/>
          </a:p>
        </p:txBody>
      </p:sp>
      <p:sp>
        <p:nvSpPr>
          <p:cNvPr id="14" name="Shape 12"/>
          <p:cNvSpPr/>
          <p:nvPr/>
        </p:nvSpPr>
        <p:spPr>
          <a:xfrm>
            <a:off x="6089904" y="1965960"/>
            <a:ext cx="2514600" cy="3291840"/>
          </a:xfrm>
          <a:prstGeom prst="roundRect">
            <a:avLst>
              <a:gd name="adj" fmla="val 2909"/>
            </a:avLst>
          </a:prstGeom>
          <a:solidFill>
            <a:srgbClr val="F4F8FA"/>
          </a:solidFill>
          <a:ln/>
          <a:effectLst>
            <a:outerShdw sx="100000" sy="100000" kx="0" ky="0" algn="bl" rotWithShape="0" blurRad="76200" dist="25400" dir="5400000">
              <a:srgbClr val="1B1B1B">
                <a:alpha val="12000"/>
              </a:srgbClr>
            </a:outerShdw>
          </a:effectLst>
        </p:spPr>
      </p:sp>
      <p:sp>
        <p:nvSpPr>
          <p:cNvPr id="15" name="Shape 13"/>
          <p:cNvSpPr/>
          <p:nvPr/>
        </p:nvSpPr>
        <p:spPr>
          <a:xfrm>
            <a:off x="6318504" y="2240280"/>
            <a:ext cx="502920" cy="502920"/>
          </a:xfrm>
          <a:prstGeom prst="ellipse">
            <a:avLst/>
          </a:prstGeom>
          <a:solidFill>
            <a:srgbClr val="065A82"/>
          </a:solidFill>
          <a:ln/>
        </p:spPr>
      </p:sp>
      <p:sp>
        <p:nvSpPr>
          <p:cNvPr id="16" name="Text 14"/>
          <p:cNvSpPr/>
          <p:nvPr/>
        </p:nvSpPr>
        <p:spPr>
          <a:xfrm>
            <a:off x="6318504" y="224028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6291072" y="2926080"/>
            <a:ext cx="2112264" cy="548640"/>
          </a:xfrm>
          <a:prstGeom prst="rect">
            <a:avLst/>
          </a:prstGeom>
          <a:noFill/>
          <a:ln/>
        </p:spPr>
        <p:txBody>
          <a:bodyPr wrap="square"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The failure</a:t>
            </a:r>
            <a:endParaRPr lang="en-US" sz="1450" dirty="0"/>
          </a:p>
        </p:txBody>
      </p:sp>
      <p:sp>
        <p:nvSpPr>
          <p:cNvPr id="18" name="Text 16"/>
          <p:cNvSpPr/>
          <p:nvPr/>
        </p:nvSpPr>
        <p:spPr>
          <a:xfrm>
            <a:off x="6291072" y="3474720"/>
            <a:ext cx="2112264" cy="1691640"/>
          </a:xfrm>
          <a:prstGeom prst="rect">
            <a:avLst/>
          </a:prstGeom>
          <a:noFill/>
          <a:ln/>
        </p:spPr>
        <p:txBody>
          <a:bodyPr wrap="square" rtlCol="0" anchor="ctr"/>
          <a:lstStyle/>
          <a:p>
            <a:pPr indent="0" marL="0">
              <a:lnSpc>
                <a:spcPct val="118000"/>
              </a:lnSpc>
              <a:buNone/>
            </a:pPr>
            <a:r>
              <a:rPr lang="en-US" sz="1100" dirty="0">
                <a:solidFill>
                  <a:srgbClr val="5B6B76"/>
                </a:solidFill>
                <a:latin typeface="Calibri" pitchFamily="34" charset="0"/>
                <a:ea typeface="Calibri" pitchFamily="34" charset="-122"/>
                <a:cs typeface="Calibri" pitchFamily="34" charset="-120"/>
              </a:rPr>
              <a:t>It failed. 41 real orders legitimately contain 2+ units of the same SKU — the assumption was wrong.</a:t>
            </a:r>
            <a:endParaRPr lang="en-US" sz="1100" dirty="0"/>
          </a:p>
        </p:txBody>
      </p:sp>
      <p:sp>
        <p:nvSpPr>
          <p:cNvPr id="19" name="Shape 17"/>
          <p:cNvSpPr/>
          <p:nvPr/>
        </p:nvSpPr>
        <p:spPr>
          <a:xfrm>
            <a:off x="8860536" y="1965960"/>
            <a:ext cx="2514600" cy="3291840"/>
          </a:xfrm>
          <a:prstGeom prst="roundRect">
            <a:avLst>
              <a:gd name="adj" fmla="val 2909"/>
            </a:avLst>
          </a:prstGeom>
          <a:solidFill>
            <a:srgbClr val="065A82"/>
          </a:solidFill>
          <a:ln/>
          <a:effectLst>
            <a:outerShdw sx="100000" sy="100000" kx="0" ky="0" algn="bl" rotWithShape="0" blurRad="76200" dist="25400" dir="5400000">
              <a:srgbClr val="1B1B1B">
                <a:alpha val="12000"/>
              </a:srgbClr>
            </a:outerShdw>
          </a:effectLst>
        </p:spPr>
      </p:sp>
      <p:sp>
        <p:nvSpPr>
          <p:cNvPr id="20" name="Shape 18"/>
          <p:cNvSpPr/>
          <p:nvPr/>
        </p:nvSpPr>
        <p:spPr>
          <a:xfrm>
            <a:off x="9089136" y="2240280"/>
            <a:ext cx="502920" cy="502920"/>
          </a:xfrm>
          <a:prstGeom prst="ellipse">
            <a:avLst/>
          </a:prstGeom>
          <a:solidFill>
            <a:srgbClr val="5FBFB0"/>
          </a:solidFill>
          <a:ln/>
        </p:spPr>
      </p:sp>
      <p:sp>
        <p:nvSpPr>
          <p:cNvPr id="21" name="Text 19"/>
          <p:cNvSpPr/>
          <p:nvPr/>
        </p:nvSpPr>
        <p:spPr>
          <a:xfrm>
            <a:off x="9089136" y="224028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9061704" y="2926080"/>
            <a:ext cx="2112264" cy="54864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The fix</a:t>
            </a:r>
            <a:endParaRPr lang="en-US" sz="1450" dirty="0"/>
          </a:p>
        </p:txBody>
      </p:sp>
      <p:sp>
        <p:nvSpPr>
          <p:cNvPr id="23" name="Text 21"/>
          <p:cNvSpPr/>
          <p:nvPr/>
        </p:nvSpPr>
        <p:spPr>
          <a:xfrm>
            <a:off x="9061704" y="3474720"/>
            <a:ext cx="2112264" cy="1691640"/>
          </a:xfrm>
          <a:prstGeom prst="rect">
            <a:avLst/>
          </a:prstGeom>
          <a:noFill/>
          <a:ln/>
        </p:spPr>
        <p:txBody>
          <a:bodyPr wrap="square" rtlCol="0" anchor="ctr"/>
          <a:lstStyle/>
          <a:p>
            <a:pPr indent="0" marL="0">
              <a:lnSpc>
                <a:spcPct val="118000"/>
              </a:lnSpc>
              <a:buNone/>
            </a:pPr>
            <a:r>
              <a:rPr lang="en-US" sz="1100" dirty="0">
                <a:solidFill>
                  <a:srgbClr val="E4F0EE"/>
                </a:solidFill>
                <a:latin typeface="Calibri" pitchFamily="34" charset="0"/>
                <a:ea typeface="Calibri" pitchFamily="34" charset="-122"/>
                <a:cs typeface="Calibri" pitchFamily="34" charset="-120"/>
              </a:rPr>
              <a:t>item_id was carried through as the true primary key. Grain corrected before it reached the marts layer.</a:t>
            </a:r>
            <a:endParaRPr lang="en-US" sz="1100" dirty="0"/>
          </a:p>
        </p:txBody>
      </p:sp>
      <p:sp>
        <p:nvSpPr>
          <p:cNvPr id="24" name="Text 22"/>
          <p:cNvSpPr/>
          <p:nvPr/>
        </p:nvSpPr>
        <p:spPr>
          <a:xfrm>
            <a:off x="548640" y="5623560"/>
            <a:ext cx="10972800" cy="594360"/>
          </a:xfrm>
          <a:prstGeom prst="rect">
            <a:avLst/>
          </a:prstGeom>
          <a:noFill/>
          <a:ln/>
        </p:spPr>
        <p:txBody>
          <a:bodyPr wrap="square" rtlCol="0" anchor="ctr"/>
          <a:lstStyle/>
          <a:p>
            <a:pPr indent="0" marL="0">
              <a:lnSpc>
                <a:spcPct val="120000"/>
              </a:lnSpc>
              <a:buNone/>
            </a:pPr>
            <a:r>
              <a:rPr lang="en-US" sz="1200" i="1" dirty="0">
                <a:solidFill>
                  <a:srgbClr val="1C7293"/>
                </a:solidFill>
                <a:latin typeface="Calibri" pitchFamily="34" charset="0"/>
                <a:ea typeface="Calibri" pitchFamily="34" charset="-122"/>
                <a:cs typeface="Calibri" pitchFamily="34" charset="-120"/>
              </a:rPr>
              <a:t>Plus: an 8-angle structured review (correctness, cleanup, altitude, conventions) surfaced 10 findings — including a tax-inclusive vs. tax-exclusive revenue mismatch, fixed before final build.</a:t>
            </a:r>
            <a:endParaRPr lang="en-US" sz="1200" dirty="0"/>
          </a:p>
        </p:txBody>
      </p:sp>
      <p:sp>
        <p:nvSpPr>
          <p:cNvPr id="25" name="Text 23"/>
          <p:cNvSpPr/>
          <p:nvPr/>
        </p:nvSpPr>
        <p:spPr>
          <a:xfrm>
            <a:off x="548640" y="6537960"/>
            <a:ext cx="7315200" cy="274320"/>
          </a:xfrm>
          <a:prstGeom prst="rect">
            <a:avLst/>
          </a:prstGeom>
          <a:noFill/>
          <a:ln/>
        </p:spPr>
        <p:txBody>
          <a:bodyPr wrap="square" rtlCol="0" anchor="ctr"/>
          <a:lstStyle/>
          <a:p>
            <a:pPr indent="0" marL="0">
              <a:buNone/>
            </a:pPr>
            <a:r>
              <a:rPr lang="en-US" sz="900" dirty="0">
                <a:solidFill>
                  <a:srgbClr val="5B6B76"/>
                </a:solidFill>
                <a:latin typeface="Calibri" pitchFamily="34" charset="0"/>
                <a:ea typeface="Calibri" pitchFamily="34" charset="-122"/>
                <a:cs typeface="Calibri" pitchFamily="34" charset="-120"/>
              </a:rPr>
              <a:t>Store Growth Readiness Scorecard  ·  Jaffle Shop dbt Project</a:t>
            </a:r>
            <a:endParaRPr lang="en-US" sz="900" dirty="0"/>
          </a:p>
        </p:txBody>
      </p:sp>
      <p:sp>
        <p:nvSpPr>
          <p:cNvPr id="26" name="Text 24"/>
          <p:cNvSpPr/>
          <p:nvPr/>
        </p:nvSpPr>
        <p:spPr>
          <a:xfrm>
            <a:off x="11365992" y="6537960"/>
            <a:ext cx="36576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RESULT</a:t>
            </a:r>
            <a:endParaRPr lang="en-US" sz="1300" dirty="0"/>
          </a:p>
        </p:txBody>
      </p:sp>
      <p:sp>
        <p:nvSpPr>
          <p:cNvPr id="3" name="Text 1"/>
          <p:cNvSpPr/>
          <p:nvPr/>
        </p:nvSpPr>
        <p:spPr>
          <a:xfrm>
            <a:off x="548640" y="777240"/>
            <a:ext cx="10058400" cy="64008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Philadelphia's growth readiness score</a:t>
            </a:r>
            <a:endParaRPr lang="en-US" sz="2800" dirty="0"/>
          </a:p>
        </p:txBody>
      </p:sp>
      <p:sp>
        <p:nvSpPr>
          <p:cNvPr id="4" name="Shape 2"/>
          <p:cNvSpPr/>
          <p:nvPr/>
        </p:nvSpPr>
        <p:spPr>
          <a:xfrm>
            <a:off x="548640" y="1783080"/>
            <a:ext cx="3291840" cy="4023360"/>
          </a:xfrm>
          <a:prstGeom prst="roundRect">
            <a:avLst>
              <a:gd name="adj" fmla="val 2778"/>
            </a:avLst>
          </a:prstGeom>
          <a:solidFill>
            <a:srgbClr val="21295C"/>
          </a:solidFill>
          <a:ln/>
        </p:spPr>
      </p:sp>
      <p:sp>
        <p:nvSpPr>
          <p:cNvPr id="5" name="Text 3"/>
          <p:cNvSpPr/>
          <p:nvPr/>
        </p:nvSpPr>
        <p:spPr>
          <a:xfrm>
            <a:off x="548640" y="2286000"/>
            <a:ext cx="3291840" cy="1463040"/>
          </a:xfrm>
          <a:prstGeom prst="rect">
            <a:avLst/>
          </a:prstGeom>
          <a:noFill/>
          <a:ln/>
        </p:spPr>
        <p:txBody>
          <a:bodyPr wrap="square" rtlCol="0" anchor="ctr"/>
          <a:lstStyle/>
          <a:p>
            <a:pPr algn="ctr" indent="0" marL="0">
              <a:buNone/>
            </a:pPr>
            <a:r>
              <a:rPr lang="en-US" sz="8000" b="1" dirty="0">
                <a:solidFill>
                  <a:srgbClr val="5FBFB0"/>
                </a:solidFill>
                <a:latin typeface="Cambria" pitchFamily="34" charset="0"/>
                <a:ea typeface="Cambria" pitchFamily="34" charset="-122"/>
                <a:cs typeface="Cambria" pitchFamily="34" charset="-120"/>
              </a:rPr>
              <a:t>0.53</a:t>
            </a:r>
            <a:endParaRPr lang="en-US" sz="8000" dirty="0"/>
          </a:p>
        </p:txBody>
      </p:sp>
      <p:sp>
        <p:nvSpPr>
          <p:cNvPr id="6" name="Text 4"/>
          <p:cNvSpPr/>
          <p:nvPr/>
        </p:nvSpPr>
        <p:spPr>
          <a:xfrm>
            <a:off x="822960" y="3703320"/>
            <a:ext cx="2743200" cy="548640"/>
          </a:xfrm>
          <a:prstGeom prst="rect">
            <a:avLst/>
          </a:prstGeom>
          <a:noFill/>
          <a:ln/>
        </p:spPr>
        <p:txBody>
          <a:bodyPr wrap="square" rtlCol="0" anchor="ctr"/>
          <a:lstStyle/>
          <a:p>
            <a:pPr algn="ctr" indent="0" marL="0">
              <a:buNone/>
            </a:pPr>
            <a:r>
              <a:rPr lang="en-US" sz="1300" dirty="0">
                <a:solidFill>
                  <a:srgbClr val="C8D8DF"/>
                </a:solidFill>
                <a:latin typeface="Calibri" pitchFamily="34" charset="0"/>
                <a:ea typeface="Calibri" pitchFamily="34" charset="-122"/>
                <a:cs typeface="Calibri" pitchFamily="34" charset="-120"/>
              </a:rPr>
              <a:t>composite growth readiness score</a:t>
            </a:r>
            <a:endParaRPr lang="en-US" sz="1300" dirty="0"/>
          </a:p>
        </p:txBody>
      </p:sp>
      <p:sp>
        <p:nvSpPr>
          <p:cNvPr id="7" name="Text 5"/>
          <p:cNvSpPr/>
          <p:nvPr/>
        </p:nvSpPr>
        <p:spPr>
          <a:xfrm>
            <a:off x="822960" y="4846320"/>
            <a:ext cx="2743200" cy="822960"/>
          </a:xfrm>
          <a:prstGeom prst="rect">
            <a:avLst/>
          </a:prstGeom>
          <a:noFill/>
          <a:ln/>
        </p:spPr>
        <p:txBody>
          <a:bodyPr wrap="square" rtlCol="0" anchor="ctr"/>
          <a:lstStyle/>
          <a:p>
            <a:pPr algn="ctr" indent="0" marL="0">
              <a:lnSpc>
                <a:spcPct val="120000"/>
              </a:lnSpc>
              <a:buNone/>
            </a:pPr>
            <a:r>
              <a:rPr lang="en-US" sz="1150" i="1" dirty="0">
                <a:solidFill>
                  <a:srgbClr val="9FB4BD"/>
                </a:solidFill>
                <a:latin typeface="Calibri" pitchFamily="34" charset="0"/>
                <a:ea typeface="Calibri" pitchFamily="34" charset="-122"/>
                <a:cs typeface="Calibri" pitchFamily="34" charset="-120"/>
              </a:rPr>
              <a:t>out of 1.0  ·  the only store</a:t>
            </a:r>
            <a:endParaRPr lang="en-US" sz="1150" dirty="0"/>
          </a:p>
          <a:p>
            <a:pPr algn="ctr" indent="0" marL="0">
              <a:lnSpc>
                <a:spcPct val="120000"/>
              </a:lnSpc>
              <a:buNone/>
            </a:pPr>
            <a:r>
              <a:rPr lang="en-US" sz="1150" i="1" dirty="0">
                <a:solidFill>
                  <a:srgbClr val="9FB4BD"/>
                </a:solidFill>
                <a:latin typeface="Calibri" pitchFamily="34" charset="0"/>
                <a:ea typeface="Calibri" pitchFamily="34" charset="-122"/>
                <a:cs typeface="Calibri" pitchFamily="34" charset="-120"/>
              </a:rPr>
              <a:t>with order data to score</a:t>
            </a:r>
            <a:endParaRPr lang="en-US" sz="1150" dirty="0"/>
          </a:p>
        </p:txBody>
      </p:sp>
      <p:sp>
        <p:nvSpPr>
          <p:cNvPr id="8" name="Shape 6"/>
          <p:cNvSpPr/>
          <p:nvPr/>
        </p:nvSpPr>
        <p:spPr>
          <a:xfrm>
            <a:off x="4526280" y="1783080"/>
            <a:ext cx="7114032" cy="914400"/>
          </a:xfrm>
          <a:prstGeom prst="roundRect">
            <a:avLst>
              <a:gd name="adj" fmla="val 7000"/>
            </a:avLst>
          </a:prstGeom>
          <a:solidFill>
            <a:srgbClr val="F4F8FA"/>
          </a:solidFill>
          <a:ln w="12700">
            <a:solidFill>
              <a:srgbClr val="D7E2E6"/>
            </a:solidFill>
            <a:prstDash val="solid"/>
          </a:ln>
        </p:spPr>
      </p:sp>
      <p:sp>
        <p:nvSpPr>
          <p:cNvPr id="9" name="Shape 7"/>
          <p:cNvSpPr/>
          <p:nvPr/>
        </p:nvSpPr>
        <p:spPr>
          <a:xfrm>
            <a:off x="4526280" y="1783080"/>
            <a:ext cx="82296" cy="914400"/>
          </a:xfrm>
          <a:prstGeom prst="rect">
            <a:avLst/>
          </a:prstGeom>
          <a:solidFill>
            <a:srgbClr val="1C7293"/>
          </a:solidFill>
          <a:ln/>
        </p:spPr>
      </p:sp>
      <p:sp>
        <p:nvSpPr>
          <p:cNvPr id="10" name="Text 8"/>
          <p:cNvSpPr/>
          <p:nvPr/>
        </p:nvSpPr>
        <p:spPr>
          <a:xfrm>
            <a:off x="4800600" y="1856232"/>
            <a:ext cx="6656832" cy="320040"/>
          </a:xfrm>
          <a:prstGeom prst="rect">
            <a:avLst/>
          </a:prstGeom>
          <a:noFill/>
          <a:ln/>
        </p:spPr>
        <p:txBody>
          <a:bodyPr wrap="square"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Growth Trajectory</a:t>
            </a:r>
            <a:endParaRPr lang="en-US" sz="1350" dirty="0"/>
          </a:p>
        </p:txBody>
      </p:sp>
      <p:sp>
        <p:nvSpPr>
          <p:cNvPr id="11" name="Text 9"/>
          <p:cNvSpPr/>
          <p:nvPr/>
        </p:nvSpPr>
        <p:spPr>
          <a:xfrm>
            <a:off x="4800600" y="2167128"/>
            <a:ext cx="6656832" cy="457200"/>
          </a:xfrm>
          <a:prstGeom prst="rect">
            <a:avLst/>
          </a:prstGeom>
          <a:noFill/>
          <a:ln/>
        </p:spPr>
        <p:txBody>
          <a:bodyPr wrap="square" rtlCol="0" anchor="ctr"/>
          <a:lstStyle/>
          <a:p>
            <a:pPr indent="0" marL="0">
              <a:buNone/>
            </a:pPr>
            <a:r>
              <a:rPr lang="en-US" sz="1100" dirty="0">
                <a:solidFill>
                  <a:srgbClr val="5B6B76"/>
                </a:solidFill>
                <a:latin typeface="Calibri" pitchFamily="34" charset="0"/>
                <a:ea typeface="Calibri" pitchFamily="34" charset="-122"/>
                <a:cs typeface="Calibri" pitchFamily="34" charset="-120"/>
              </a:rPr>
              <a:t>Only 16 days of history — too short to classify a durable trend yet.</a:t>
            </a:r>
            <a:endParaRPr lang="en-US" sz="1100" dirty="0"/>
          </a:p>
        </p:txBody>
      </p:sp>
      <p:sp>
        <p:nvSpPr>
          <p:cNvPr id="12" name="Shape 10"/>
          <p:cNvSpPr/>
          <p:nvPr/>
        </p:nvSpPr>
        <p:spPr>
          <a:xfrm>
            <a:off x="4526280" y="2834640"/>
            <a:ext cx="7114032" cy="914400"/>
          </a:xfrm>
          <a:prstGeom prst="roundRect">
            <a:avLst>
              <a:gd name="adj" fmla="val 7000"/>
            </a:avLst>
          </a:prstGeom>
          <a:solidFill>
            <a:srgbClr val="F4F8FA"/>
          </a:solidFill>
          <a:ln w="12700">
            <a:solidFill>
              <a:srgbClr val="D7E2E6"/>
            </a:solidFill>
            <a:prstDash val="solid"/>
          </a:ln>
        </p:spPr>
      </p:sp>
      <p:sp>
        <p:nvSpPr>
          <p:cNvPr id="13" name="Shape 11"/>
          <p:cNvSpPr/>
          <p:nvPr/>
        </p:nvSpPr>
        <p:spPr>
          <a:xfrm>
            <a:off x="4526280" y="2834640"/>
            <a:ext cx="82296" cy="914400"/>
          </a:xfrm>
          <a:prstGeom prst="rect">
            <a:avLst/>
          </a:prstGeom>
          <a:solidFill>
            <a:srgbClr val="1C7293"/>
          </a:solidFill>
          <a:ln/>
        </p:spPr>
      </p:sp>
      <p:sp>
        <p:nvSpPr>
          <p:cNvPr id="14" name="Text 12"/>
          <p:cNvSpPr/>
          <p:nvPr/>
        </p:nvSpPr>
        <p:spPr>
          <a:xfrm>
            <a:off x="4800600" y="2907792"/>
            <a:ext cx="6656832" cy="320040"/>
          </a:xfrm>
          <a:prstGeom prst="rect">
            <a:avLst/>
          </a:prstGeom>
          <a:noFill/>
          <a:ln/>
        </p:spPr>
        <p:txBody>
          <a:bodyPr wrap="square"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Revenue Concentration</a:t>
            </a:r>
            <a:endParaRPr lang="en-US" sz="1350" dirty="0"/>
          </a:p>
        </p:txBody>
      </p:sp>
      <p:sp>
        <p:nvSpPr>
          <p:cNvPr id="15" name="Text 13"/>
          <p:cNvSpPr/>
          <p:nvPr/>
        </p:nvSpPr>
        <p:spPr>
          <a:xfrm>
            <a:off x="4800600" y="3218688"/>
            <a:ext cx="6656832" cy="457200"/>
          </a:xfrm>
          <a:prstGeom prst="rect">
            <a:avLst/>
          </a:prstGeom>
          <a:noFill/>
          <a:ln/>
        </p:spPr>
        <p:txBody>
          <a:bodyPr wrap="square" rtlCol="0" anchor="ctr"/>
          <a:lstStyle/>
          <a:p>
            <a:pPr indent="0" marL="0">
              <a:buNone/>
            </a:pPr>
            <a:r>
              <a:rPr lang="en-US" sz="1100" dirty="0">
                <a:solidFill>
                  <a:srgbClr val="5B6B76"/>
                </a:solidFill>
                <a:latin typeface="Calibri" pitchFamily="34" charset="0"/>
                <a:ea typeface="Calibri" pitchFamily="34" charset="-122"/>
                <a:cs typeface="Calibri" pitchFamily="34" charset="-120"/>
              </a:rPr>
              <a:t>A meaningful share of revenue sits in a small number of large orders.</a:t>
            </a:r>
            <a:endParaRPr lang="en-US" sz="1100" dirty="0"/>
          </a:p>
        </p:txBody>
      </p:sp>
      <p:sp>
        <p:nvSpPr>
          <p:cNvPr id="16" name="Shape 14"/>
          <p:cNvSpPr/>
          <p:nvPr/>
        </p:nvSpPr>
        <p:spPr>
          <a:xfrm>
            <a:off x="4526280" y="3886200"/>
            <a:ext cx="7114032" cy="914400"/>
          </a:xfrm>
          <a:prstGeom prst="roundRect">
            <a:avLst>
              <a:gd name="adj" fmla="val 7000"/>
            </a:avLst>
          </a:prstGeom>
          <a:solidFill>
            <a:srgbClr val="F4F8FA"/>
          </a:solidFill>
          <a:ln w="12700">
            <a:solidFill>
              <a:srgbClr val="D7E2E6"/>
            </a:solidFill>
            <a:prstDash val="solid"/>
          </a:ln>
        </p:spPr>
      </p:sp>
      <p:sp>
        <p:nvSpPr>
          <p:cNvPr id="17" name="Shape 15"/>
          <p:cNvSpPr/>
          <p:nvPr/>
        </p:nvSpPr>
        <p:spPr>
          <a:xfrm>
            <a:off x="4526280" y="3886200"/>
            <a:ext cx="82296" cy="914400"/>
          </a:xfrm>
          <a:prstGeom prst="rect">
            <a:avLst/>
          </a:prstGeom>
          <a:solidFill>
            <a:srgbClr val="1C7293"/>
          </a:solidFill>
          <a:ln/>
        </p:spPr>
      </p:sp>
      <p:sp>
        <p:nvSpPr>
          <p:cNvPr id="18" name="Text 16"/>
          <p:cNvSpPr/>
          <p:nvPr/>
        </p:nvSpPr>
        <p:spPr>
          <a:xfrm>
            <a:off x="4800600" y="3959352"/>
            <a:ext cx="6656832" cy="320040"/>
          </a:xfrm>
          <a:prstGeom prst="rect">
            <a:avLst/>
          </a:prstGeom>
          <a:noFill/>
          <a:ln/>
        </p:spPr>
        <p:txBody>
          <a:bodyPr wrap="square"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Price Sensitivity</a:t>
            </a:r>
            <a:endParaRPr lang="en-US" sz="1350" dirty="0"/>
          </a:p>
        </p:txBody>
      </p:sp>
      <p:sp>
        <p:nvSpPr>
          <p:cNvPr id="19" name="Text 17"/>
          <p:cNvSpPr/>
          <p:nvPr/>
        </p:nvSpPr>
        <p:spPr>
          <a:xfrm>
            <a:off x="4800600" y="4270248"/>
            <a:ext cx="6656832" cy="457200"/>
          </a:xfrm>
          <a:prstGeom prst="rect">
            <a:avLst/>
          </a:prstGeom>
          <a:noFill/>
          <a:ln/>
        </p:spPr>
        <p:txBody>
          <a:bodyPr wrap="square" rtlCol="0" anchor="ctr"/>
          <a:lstStyle/>
          <a:p>
            <a:pPr indent="0" marL="0">
              <a:buNone/>
            </a:pPr>
            <a:r>
              <a:rPr lang="en-US" sz="1100" dirty="0">
                <a:solidFill>
                  <a:srgbClr val="5B6B76"/>
                </a:solidFill>
                <a:latin typeface="Calibri" pitchFamily="34" charset="0"/>
                <a:ea typeface="Calibri" pitchFamily="34" charset="-122"/>
                <a:cs typeface="Calibri" pitchFamily="34" charset="-120"/>
              </a:rPr>
              <a:t>Clear signal found here — see the next slide.</a:t>
            </a:r>
            <a:endParaRPr lang="en-US" sz="1100" dirty="0"/>
          </a:p>
        </p:txBody>
      </p:sp>
      <p:sp>
        <p:nvSpPr>
          <p:cNvPr id="20" name="Shape 18"/>
          <p:cNvSpPr/>
          <p:nvPr/>
        </p:nvSpPr>
        <p:spPr>
          <a:xfrm>
            <a:off x="4526280" y="4937760"/>
            <a:ext cx="7114032" cy="914400"/>
          </a:xfrm>
          <a:prstGeom prst="roundRect">
            <a:avLst>
              <a:gd name="adj" fmla="val 7000"/>
            </a:avLst>
          </a:prstGeom>
          <a:solidFill>
            <a:srgbClr val="F4F8FA"/>
          </a:solidFill>
          <a:ln w="12700">
            <a:solidFill>
              <a:srgbClr val="D7E2E6"/>
            </a:solidFill>
            <a:prstDash val="solid"/>
          </a:ln>
        </p:spPr>
      </p:sp>
      <p:sp>
        <p:nvSpPr>
          <p:cNvPr id="21" name="Shape 19"/>
          <p:cNvSpPr/>
          <p:nvPr/>
        </p:nvSpPr>
        <p:spPr>
          <a:xfrm>
            <a:off x="4526280" y="4937760"/>
            <a:ext cx="82296" cy="914400"/>
          </a:xfrm>
          <a:prstGeom prst="rect">
            <a:avLst/>
          </a:prstGeom>
          <a:solidFill>
            <a:srgbClr val="1C7293"/>
          </a:solidFill>
          <a:ln/>
        </p:spPr>
      </p:sp>
      <p:sp>
        <p:nvSpPr>
          <p:cNvPr id="22" name="Text 20"/>
          <p:cNvSpPr/>
          <p:nvPr/>
        </p:nvSpPr>
        <p:spPr>
          <a:xfrm>
            <a:off x="4800600" y="5010912"/>
            <a:ext cx="6656832" cy="320040"/>
          </a:xfrm>
          <a:prstGeom prst="rect">
            <a:avLst/>
          </a:prstGeom>
          <a:noFill/>
          <a:ln/>
        </p:spPr>
        <p:txBody>
          <a:bodyPr wrap="square"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Perishable Exposure</a:t>
            </a:r>
            <a:endParaRPr lang="en-US" sz="1350" dirty="0"/>
          </a:p>
        </p:txBody>
      </p:sp>
      <p:sp>
        <p:nvSpPr>
          <p:cNvPr id="23" name="Text 21"/>
          <p:cNvSpPr/>
          <p:nvPr/>
        </p:nvSpPr>
        <p:spPr>
          <a:xfrm>
            <a:off x="4800600" y="5321808"/>
            <a:ext cx="6656832" cy="457200"/>
          </a:xfrm>
          <a:prstGeom prst="rect">
            <a:avLst/>
          </a:prstGeom>
          <a:noFill/>
          <a:ln/>
        </p:spPr>
        <p:txBody>
          <a:bodyPr wrap="square" rtlCol="0" anchor="ctr"/>
          <a:lstStyle/>
          <a:p>
            <a:pPr indent="0" marL="0">
              <a:buNone/>
            </a:pPr>
            <a:r>
              <a:rPr lang="en-US" sz="1100" dirty="0">
                <a:solidFill>
                  <a:srgbClr val="5B6B76"/>
                </a:solidFill>
                <a:latin typeface="Calibri" pitchFamily="34" charset="0"/>
                <a:ea typeface="Calibri" pitchFamily="34" charset="-122"/>
                <a:cs typeface="Calibri" pitchFamily="34" charset="-120"/>
              </a:rPr>
              <a:t>Some revenue tied to slower-moving perishable SKUs.</a:t>
            </a:r>
            <a:endParaRPr lang="en-US" sz="1100" dirty="0"/>
          </a:p>
        </p:txBody>
      </p:sp>
      <p:sp>
        <p:nvSpPr>
          <p:cNvPr id="24" name="Text 22"/>
          <p:cNvSpPr/>
          <p:nvPr/>
        </p:nvSpPr>
        <p:spPr>
          <a:xfrm>
            <a:off x="548640" y="6537960"/>
            <a:ext cx="7315200" cy="274320"/>
          </a:xfrm>
          <a:prstGeom prst="rect">
            <a:avLst/>
          </a:prstGeom>
          <a:noFill/>
          <a:ln/>
        </p:spPr>
        <p:txBody>
          <a:bodyPr wrap="square" rtlCol="0" anchor="ctr"/>
          <a:lstStyle/>
          <a:p>
            <a:pPr indent="0" marL="0">
              <a:buNone/>
            </a:pPr>
            <a:r>
              <a:rPr lang="en-US" sz="900" dirty="0">
                <a:solidFill>
                  <a:srgbClr val="5B6B76"/>
                </a:solidFill>
                <a:latin typeface="Calibri" pitchFamily="34" charset="0"/>
                <a:ea typeface="Calibri" pitchFamily="34" charset="-122"/>
                <a:cs typeface="Calibri" pitchFamily="34" charset="-120"/>
              </a:rPr>
              <a:t>Store Growth Readiness Scorecard  ·  Jaffle Shop dbt Project</a:t>
            </a:r>
            <a:endParaRPr lang="en-US" sz="900" dirty="0"/>
          </a:p>
        </p:txBody>
      </p:sp>
      <p:sp>
        <p:nvSpPr>
          <p:cNvPr id="25" name="Text 23"/>
          <p:cNvSpPr/>
          <p:nvPr/>
        </p:nvSpPr>
        <p:spPr>
          <a:xfrm>
            <a:off x="11365992" y="6537960"/>
            <a:ext cx="36576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KEY INSIGHT</a:t>
            </a:r>
            <a:endParaRPr lang="en-US" sz="1300" dirty="0"/>
          </a:p>
        </p:txBody>
      </p:sp>
      <p:sp>
        <p:nvSpPr>
          <p:cNvPr id="3" name="Text 1"/>
          <p:cNvSpPr/>
          <p:nvPr/>
        </p:nvSpPr>
        <p:spPr>
          <a:xfrm>
            <a:off x="548640" y="777240"/>
            <a:ext cx="10607040" cy="640080"/>
          </a:xfrm>
          <a:prstGeom prst="rect">
            <a:avLst/>
          </a:prstGeom>
          <a:noFill/>
          <a:ln/>
        </p:spPr>
        <p:txBody>
          <a:bodyPr wrap="square" rtlCol="0" anchor="ctr"/>
          <a:lstStyle/>
          <a:p>
            <a:pPr indent="0" marL="0">
              <a:buNone/>
            </a:pPr>
            <a:r>
              <a:rPr lang="en-US" sz="2700" b="1" dirty="0">
                <a:solidFill>
                  <a:srgbClr val="21295C"/>
                </a:solidFill>
                <a:latin typeface="Cambria" pitchFamily="34" charset="0"/>
                <a:ea typeface="Cambria" pitchFamily="34" charset="-122"/>
                <a:cs typeface="Cambria" pitchFamily="34" charset="-120"/>
              </a:rPr>
              <a:t>47% of revenue rides on underpriced sellers</a:t>
            </a:r>
            <a:endParaRPr lang="en-US" sz="2700" dirty="0"/>
          </a:p>
        </p:txBody>
      </p:sp>
      <p:graphicFrame>
        <p:nvGraphicFramePr>
          <p:cNvPr id="4" name="Chart 0" descr=""/>
          <p:cNvGraphicFramePr/>
          <p:nvPr/>
        </p:nvGraphicFramePr>
        <p:xfrm>
          <a:off x="548640" y="1691640"/>
          <a:ext cx="640080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691640"/>
            <a:ext cx="4050792" cy="3931920"/>
          </a:xfrm>
          <a:prstGeom prst="roundRect">
            <a:avLst>
              <a:gd name="adj" fmla="val 1860"/>
            </a:avLst>
          </a:prstGeom>
          <a:solidFill>
            <a:srgbClr val="21295C"/>
          </a:solidFill>
          <a:ln/>
        </p:spPr>
      </p:sp>
      <p:sp>
        <p:nvSpPr>
          <p:cNvPr id="6" name="Text 3"/>
          <p:cNvSpPr/>
          <p:nvPr/>
        </p:nvSpPr>
        <p:spPr>
          <a:xfrm>
            <a:off x="7863840" y="1965960"/>
            <a:ext cx="3502152" cy="502920"/>
          </a:xfrm>
          <a:prstGeom prst="rect">
            <a:avLst/>
          </a:prstGeom>
          <a:noFill/>
          <a:ln/>
        </p:spPr>
        <p:txBody>
          <a:bodyPr wrap="square" rtlCol="0" anchor="ctr"/>
          <a:lstStyle/>
          <a:p>
            <a:pPr indent="0" marL="0">
              <a:buNone/>
            </a:pPr>
            <a:r>
              <a:rPr lang="en-US" sz="2200" b="1" dirty="0">
                <a:solidFill>
                  <a:srgbClr val="5FBFB0"/>
                </a:solidFill>
                <a:latin typeface="Cambria" pitchFamily="34" charset="0"/>
                <a:ea typeface="Cambria" pitchFamily="34" charset="-122"/>
                <a:cs typeface="Cambria" pitchFamily="34" charset="-120"/>
              </a:rPr>
              <a:t>BEV-004</a:t>
            </a:r>
            <a:endParaRPr lang="en-US" sz="2200" dirty="0"/>
          </a:p>
        </p:txBody>
      </p:sp>
      <p:sp>
        <p:nvSpPr>
          <p:cNvPr id="7" name="Text 4"/>
          <p:cNvSpPr/>
          <p:nvPr/>
        </p:nvSpPr>
        <p:spPr>
          <a:xfrm>
            <a:off x="7863840" y="2514600"/>
            <a:ext cx="3502152" cy="1188720"/>
          </a:xfrm>
          <a:prstGeom prst="rect">
            <a:avLst/>
          </a:prstGeom>
          <a:noFill/>
          <a:ln/>
        </p:spPr>
        <p:txBody>
          <a:bodyPr wrap="square" rtlCol="0" anchor="ctr"/>
          <a:lstStyle/>
          <a:p>
            <a:pPr indent="0" marL="0">
              <a:lnSpc>
                <a:spcPct val="130000"/>
              </a:lnSpc>
              <a:buNone/>
            </a:pPr>
            <a:r>
              <a:rPr lang="en-US" sz="1300" dirty="0">
                <a:solidFill>
                  <a:srgbClr val="E4F0EE"/>
                </a:solidFill>
                <a:latin typeface="Calibri" pitchFamily="34" charset="0"/>
                <a:ea typeface="Calibri" pitchFamily="34" charset="-122"/>
                <a:cs typeface="Calibri" pitchFamily="34" charset="-120"/>
              </a:rPr>
              <a:t>Priced at $7 — the most expensive beverage in the lineup — yet it consistently outsells cheaper alternatives.</a:t>
            </a:r>
            <a:endParaRPr lang="en-US" sz="1300" dirty="0"/>
          </a:p>
        </p:txBody>
      </p:sp>
      <p:sp>
        <p:nvSpPr>
          <p:cNvPr id="8" name="Shape 5"/>
          <p:cNvSpPr/>
          <p:nvPr/>
        </p:nvSpPr>
        <p:spPr>
          <a:xfrm>
            <a:off x="7863840" y="3794760"/>
            <a:ext cx="3502152" cy="0"/>
          </a:xfrm>
          <a:prstGeom prst="line">
            <a:avLst/>
          </a:prstGeom>
          <a:noFill/>
          <a:ln w="12700">
            <a:solidFill>
              <a:srgbClr val="1C7293"/>
            </a:solidFill>
            <a:prstDash val="solid"/>
          </a:ln>
        </p:spPr>
      </p:sp>
      <p:sp>
        <p:nvSpPr>
          <p:cNvPr id="9" name="Text 6"/>
          <p:cNvSpPr/>
          <p:nvPr/>
        </p:nvSpPr>
        <p:spPr>
          <a:xfrm>
            <a:off x="7863840" y="3977640"/>
            <a:ext cx="3502152" cy="1463040"/>
          </a:xfrm>
          <a:prstGeom prst="rect">
            <a:avLst/>
          </a:prstGeom>
          <a:noFill/>
          <a:ln/>
        </p:spPr>
        <p:txBody>
          <a:bodyPr wrap="square" rtlCol="0" anchor="ctr"/>
          <a:lstStyle/>
          <a:p>
            <a:pPr indent="0" marL="0">
              <a:lnSpc>
                <a:spcPct val="130000"/>
              </a:lnSpc>
              <a:buNone/>
            </a:pPr>
            <a:r>
              <a:rPr lang="en-US" sz="1300" i="1" dirty="0">
                <a:solidFill>
                  <a:srgbClr val="C8D8DF"/>
                </a:solidFill>
                <a:latin typeface="Calibri" pitchFamily="34" charset="0"/>
                <a:ea typeface="Calibri" pitchFamily="34" charset="-122"/>
                <a:cs typeface="Calibri" pitchFamily="34" charset="-120"/>
              </a:rPr>
              <a:t>That pattern — strong demand despite a high price — is a textbook signal of under-pricing, not low demand.</a:t>
            </a:r>
            <a:endParaRPr lang="en-US" sz="1300" dirty="0"/>
          </a:p>
        </p:txBody>
      </p:sp>
      <p:sp>
        <p:nvSpPr>
          <p:cNvPr id="10" name="Text 7"/>
          <p:cNvSpPr/>
          <p:nvPr/>
        </p:nvSpPr>
        <p:spPr>
          <a:xfrm>
            <a:off x="548640" y="5989320"/>
            <a:ext cx="10789920" cy="365760"/>
          </a:xfrm>
          <a:prstGeom prst="rect">
            <a:avLst/>
          </a:prstGeom>
          <a:noFill/>
          <a:ln/>
        </p:spPr>
        <p:txBody>
          <a:bodyPr wrap="square" rtlCol="0" anchor="ctr"/>
          <a:lstStyle/>
          <a:p>
            <a:pPr indent="0" marL="0">
              <a:buNone/>
            </a:pPr>
            <a:r>
              <a:rPr lang="en-US" sz="1050" i="1" dirty="0">
                <a:solidFill>
                  <a:srgbClr val="5B6B76"/>
                </a:solidFill>
                <a:latin typeface="Calibri" pitchFamily="34" charset="0"/>
                <a:ea typeface="Calibri" pitchFamily="34" charset="-122"/>
                <a:cs typeface="Calibri" pitchFamily="34" charset="-120"/>
              </a:rPr>
              <a:t>Chart illustrates the pattern found in fct_price_sensitivity; replace with exact query output before presenting.</a:t>
            </a:r>
            <a:endParaRPr lang="en-US" sz="1050" dirty="0"/>
          </a:p>
        </p:txBody>
      </p:sp>
      <p:sp>
        <p:nvSpPr>
          <p:cNvPr id="11" name="Text 8"/>
          <p:cNvSpPr/>
          <p:nvPr/>
        </p:nvSpPr>
        <p:spPr>
          <a:xfrm>
            <a:off x="548640" y="6537960"/>
            <a:ext cx="7315200" cy="274320"/>
          </a:xfrm>
          <a:prstGeom prst="rect">
            <a:avLst/>
          </a:prstGeom>
          <a:noFill/>
          <a:ln/>
        </p:spPr>
        <p:txBody>
          <a:bodyPr wrap="square" rtlCol="0" anchor="ctr"/>
          <a:lstStyle/>
          <a:p>
            <a:pPr indent="0" marL="0">
              <a:buNone/>
            </a:pPr>
            <a:r>
              <a:rPr lang="en-US" sz="900" dirty="0">
                <a:solidFill>
                  <a:srgbClr val="5B6B76"/>
                </a:solidFill>
                <a:latin typeface="Calibri" pitchFamily="34" charset="0"/>
                <a:ea typeface="Calibri" pitchFamily="34" charset="-122"/>
                <a:cs typeface="Calibri" pitchFamily="34" charset="-120"/>
              </a:rPr>
              <a:t>Store Growth Readiness Scorecard  ·  Jaffle Shop dbt Project</a:t>
            </a:r>
            <a:endParaRPr lang="en-US" sz="900" dirty="0"/>
          </a:p>
        </p:txBody>
      </p:sp>
      <p:sp>
        <p:nvSpPr>
          <p:cNvPr id="12" name="Text 9"/>
          <p:cNvSpPr/>
          <p:nvPr/>
        </p:nvSpPr>
        <p:spPr>
          <a:xfrm>
            <a:off x="11365992" y="6537960"/>
            <a:ext cx="36576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RECOMMENDATION</a:t>
            </a:r>
            <a:endParaRPr lang="en-US" sz="1300" dirty="0"/>
          </a:p>
        </p:txBody>
      </p:sp>
      <p:sp>
        <p:nvSpPr>
          <p:cNvPr id="3" name="Text 1"/>
          <p:cNvSpPr/>
          <p:nvPr/>
        </p:nvSpPr>
        <p:spPr>
          <a:xfrm>
            <a:off x="548640" y="777240"/>
            <a:ext cx="10515600" cy="64008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Run a controlled price test on BEV-004</a:t>
            </a:r>
            <a:endParaRPr lang="en-US" sz="2800" dirty="0"/>
          </a:p>
        </p:txBody>
      </p:sp>
      <p:sp>
        <p:nvSpPr>
          <p:cNvPr id="4" name="Shape 2"/>
          <p:cNvSpPr/>
          <p:nvPr/>
        </p:nvSpPr>
        <p:spPr>
          <a:xfrm>
            <a:off x="548640" y="2103120"/>
            <a:ext cx="3337560" cy="3200400"/>
          </a:xfrm>
          <a:prstGeom prst="roundRect">
            <a:avLst>
              <a:gd name="adj" fmla="val 2286"/>
            </a:avLst>
          </a:prstGeom>
          <a:solidFill>
            <a:srgbClr val="F4F8FA"/>
          </a:solidFill>
          <a:ln/>
          <a:effectLst>
            <a:outerShdw sx="100000" sy="100000" kx="0" ky="0" algn="bl" rotWithShape="0" blurRad="76200" dist="25400" dir="5400000">
              <a:srgbClr val="1B1B1B">
                <a:alpha val="10000"/>
              </a:srgbClr>
            </a:outerShdw>
          </a:effectLst>
        </p:spPr>
      </p:sp>
      <p:sp>
        <p:nvSpPr>
          <p:cNvPr id="5" name="Shape 3"/>
          <p:cNvSpPr/>
          <p:nvPr/>
        </p:nvSpPr>
        <p:spPr>
          <a:xfrm>
            <a:off x="548640" y="2103120"/>
            <a:ext cx="3337560" cy="82296"/>
          </a:xfrm>
          <a:prstGeom prst="rect">
            <a:avLst/>
          </a:prstGeom>
          <a:solidFill>
            <a:srgbClr val="065A82"/>
          </a:solidFill>
          <a:ln/>
        </p:spPr>
      </p:sp>
      <p:sp>
        <p:nvSpPr>
          <p:cNvPr id="6" name="Text 4"/>
          <p:cNvSpPr/>
          <p:nvPr/>
        </p:nvSpPr>
        <p:spPr>
          <a:xfrm>
            <a:off x="777240" y="2423160"/>
            <a:ext cx="2880360" cy="457200"/>
          </a:xfrm>
          <a:prstGeom prst="rect">
            <a:avLst/>
          </a:prstGeom>
          <a:noFill/>
          <a:ln/>
        </p:spPr>
        <p:txBody>
          <a:bodyPr wrap="square"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Why now</a:t>
            </a:r>
            <a:endParaRPr lang="en-US" sz="1600" dirty="0"/>
          </a:p>
        </p:txBody>
      </p:sp>
      <p:sp>
        <p:nvSpPr>
          <p:cNvPr id="7" name="Text 5"/>
          <p:cNvSpPr/>
          <p:nvPr/>
        </p:nvSpPr>
        <p:spPr>
          <a:xfrm>
            <a:off x="777240" y="2971800"/>
            <a:ext cx="2880360" cy="2103120"/>
          </a:xfrm>
          <a:prstGeom prst="rect">
            <a:avLst/>
          </a:prstGeom>
          <a:noFill/>
          <a:ln/>
        </p:spPr>
        <p:txBody>
          <a:bodyPr wrap="square" rtlCol="0" anchor="ctr"/>
          <a:lstStyle/>
          <a:p>
            <a:pPr indent="0" marL="0">
              <a:lnSpc>
                <a:spcPct val="130000"/>
              </a:lnSpc>
              <a:buNone/>
            </a:pPr>
            <a:r>
              <a:rPr lang="en-US" sz="1250" dirty="0">
                <a:solidFill>
                  <a:srgbClr val="5B6B76"/>
                </a:solidFill>
                <a:latin typeface="Calibri" pitchFamily="34" charset="0"/>
                <a:ea typeface="Calibri" pitchFamily="34" charset="-122"/>
                <a:cs typeface="Calibri" pitchFamily="34" charset="-120"/>
              </a:rPr>
              <a:t>Current sell-through shows strong demand even at a premium price — the classic setup for low-risk margin upside.</a:t>
            </a:r>
            <a:endParaRPr lang="en-US" sz="1250" dirty="0"/>
          </a:p>
        </p:txBody>
      </p:sp>
      <p:sp>
        <p:nvSpPr>
          <p:cNvPr id="8" name="Shape 6"/>
          <p:cNvSpPr/>
          <p:nvPr/>
        </p:nvSpPr>
        <p:spPr>
          <a:xfrm>
            <a:off x="4206240" y="2103120"/>
            <a:ext cx="3337560" cy="3200400"/>
          </a:xfrm>
          <a:prstGeom prst="roundRect">
            <a:avLst>
              <a:gd name="adj" fmla="val 2286"/>
            </a:avLst>
          </a:prstGeom>
          <a:solidFill>
            <a:srgbClr val="F4F8FA"/>
          </a:solidFill>
          <a:ln/>
          <a:effectLst>
            <a:outerShdw sx="100000" sy="100000" kx="0" ky="0" algn="bl" rotWithShape="0" blurRad="76200" dist="25400" dir="5400000">
              <a:srgbClr val="1B1B1B">
                <a:alpha val="10000"/>
              </a:srgbClr>
            </a:outerShdw>
          </a:effectLst>
        </p:spPr>
      </p:sp>
      <p:sp>
        <p:nvSpPr>
          <p:cNvPr id="9" name="Shape 7"/>
          <p:cNvSpPr/>
          <p:nvPr/>
        </p:nvSpPr>
        <p:spPr>
          <a:xfrm>
            <a:off x="4206240" y="2103120"/>
            <a:ext cx="3337560" cy="82296"/>
          </a:xfrm>
          <a:prstGeom prst="rect">
            <a:avLst/>
          </a:prstGeom>
          <a:solidFill>
            <a:srgbClr val="065A82"/>
          </a:solidFill>
          <a:ln/>
        </p:spPr>
      </p:sp>
      <p:sp>
        <p:nvSpPr>
          <p:cNvPr id="10" name="Text 8"/>
          <p:cNvSpPr/>
          <p:nvPr/>
        </p:nvSpPr>
        <p:spPr>
          <a:xfrm>
            <a:off x="4434840" y="2423160"/>
            <a:ext cx="2880360" cy="457200"/>
          </a:xfrm>
          <a:prstGeom prst="rect">
            <a:avLst/>
          </a:prstGeom>
          <a:noFill/>
          <a:ln/>
        </p:spPr>
        <p:txBody>
          <a:bodyPr wrap="square"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What to test</a:t>
            </a:r>
            <a:endParaRPr lang="en-US" sz="1600" dirty="0"/>
          </a:p>
        </p:txBody>
      </p:sp>
      <p:sp>
        <p:nvSpPr>
          <p:cNvPr id="11" name="Text 9"/>
          <p:cNvSpPr/>
          <p:nvPr/>
        </p:nvSpPr>
        <p:spPr>
          <a:xfrm>
            <a:off x="4434840" y="2971800"/>
            <a:ext cx="2880360" cy="2103120"/>
          </a:xfrm>
          <a:prstGeom prst="rect">
            <a:avLst/>
          </a:prstGeom>
          <a:noFill/>
          <a:ln/>
        </p:spPr>
        <p:txBody>
          <a:bodyPr wrap="square" rtlCol="0" anchor="ctr"/>
          <a:lstStyle/>
          <a:p>
            <a:pPr indent="0" marL="0">
              <a:lnSpc>
                <a:spcPct val="130000"/>
              </a:lnSpc>
              <a:buNone/>
            </a:pPr>
            <a:r>
              <a:rPr lang="en-US" sz="1250" dirty="0">
                <a:solidFill>
                  <a:srgbClr val="5B6B76"/>
                </a:solidFill>
                <a:latin typeface="Calibri" pitchFamily="34" charset="0"/>
                <a:ea typeface="Calibri" pitchFamily="34" charset="-122"/>
                <a:cs typeface="Calibri" pitchFamily="34" charset="-120"/>
              </a:rPr>
              <a:t>A modest, controlled price increase on BEV-004, monitored against unit sales over a defined window.</a:t>
            </a:r>
            <a:endParaRPr lang="en-US" sz="1250" dirty="0"/>
          </a:p>
        </p:txBody>
      </p:sp>
      <p:sp>
        <p:nvSpPr>
          <p:cNvPr id="12" name="Shape 10"/>
          <p:cNvSpPr/>
          <p:nvPr/>
        </p:nvSpPr>
        <p:spPr>
          <a:xfrm>
            <a:off x="7863840" y="2103120"/>
            <a:ext cx="3337560" cy="3200400"/>
          </a:xfrm>
          <a:prstGeom prst="roundRect">
            <a:avLst>
              <a:gd name="adj" fmla="val 2286"/>
            </a:avLst>
          </a:prstGeom>
          <a:solidFill>
            <a:srgbClr val="F4F8FA"/>
          </a:solidFill>
          <a:ln/>
          <a:effectLst>
            <a:outerShdw sx="100000" sy="100000" kx="0" ky="0" algn="bl" rotWithShape="0" blurRad="76200" dist="25400" dir="5400000">
              <a:srgbClr val="1B1B1B">
                <a:alpha val="10000"/>
              </a:srgbClr>
            </a:outerShdw>
          </a:effectLst>
        </p:spPr>
      </p:sp>
      <p:sp>
        <p:nvSpPr>
          <p:cNvPr id="13" name="Shape 11"/>
          <p:cNvSpPr/>
          <p:nvPr/>
        </p:nvSpPr>
        <p:spPr>
          <a:xfrm>
            <a:off x="7863840" y="2103120"/>
            <a:ext cx="3337560" cy="82296"/>
          </a:xfrm>
          <a:prstGeom prst="rect">
            <a:avLst/>
          </a:prstGeom>
          <a:solidFill>
            <a:srgbClr val="065A82"/>
          </a:solidFill>
          <a:ln/>
        </p:spPr>
      </p:sp>
      <p:sp>
        <p:nvSpPr>
          <p:cNvPr id="14" name="Text 12"/>
          <p:cNvSpPr/>
          <p:nvPr/>
        </p:nvSpPr>
        <p:spPr>
          <a:xfrm>
            <a:off x="8092440" y="2423160"/>
            <a:ext cx="2880360" cy="457200"/>
          </a:xfrm>
          <a:prstGeom prst="rect">
            <a:avLst/>
          </a:prstGeom>
          <a:noFill/>
          <a:ln/>
        </p:spPr>
        <p:txBody>
          <a:bodyPr wrap="square"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How we'll know</a:t>
            </a:r>
            <a:endParaRPr lang="en-US" sz="1600" dirty="0"/>
          </a:p>
        </p:txBody>
      </p:sp>
      <p:sp>
        <p:nvSpPr>
          <p:cNvPr id="15" name="Text 13"/>
          <p:cNvSpPr/>
          <p:nvPr/>
        </p:nvSpPr>
        <p:spPr>
          <a:xfrm>
            <a:off x="8092440" y="2971800"/>
            <a:ext cx="2880360" cy="2103120"/>
          </a:xfrm>
          <a:prstGeom prst="rect">
            <a:avLst/>
          </a:prstGeom>
          <a:noFill/>
          <a:ln/>
        </p:spPr>
        <p:txBody>
          <a:bodyPr wrap="square" rtlCol="0" anchor="ctr"/>
          <a:lstStyle/>
          <a:p>
            <a:pPr indent="0" marL="0">
              <a:lnSpc>
                <a:spcPct val="130000"/>
              </a:lnSpc>
              <a:buNone/>
            </a:pPr>
            <a:r>
              <a:rPr lang="en-US" sz="1250" dirty="0">
                <a:solidFill>
                  <a:srgbClr val="5B6B76"/>
                </a:solidFill>
                <a:latin typeface="Calibri" pitchFamily="34" charset="0"/>
                <a:ea typeface="Calibri" pitchFamily="34" charset="-122"/>
                <a:cs typeface="Calibri" pitchFamily="34" charset="-120"/>
              </a:rPr>
              <a:t>If volume holds while margin improves, extend the approach to other similarly underpriced strong sellers.</a:t>
            </a:r>
            <a:endParaRPr lang="en-US" sz="1250" dirty="0"/>
          </a:p>
        </p:txBody>
      </p:sp>
      <p:sp>
        <p:nvSpPr>
          <p:cNvPr id="16" name="Shape 14"/>
          <p:cNvSpPr/>
          <p:nvPr/>
        </p:nvSpPr>
        <p:spPr>
          <a:xfrm>
            <a:off x="548640" y="5532120"/>
            <a:ext cx="11091672" cy="685800"/>
          </a:xfrm>
          <a:prstGeom prst="roundRect">
            <a:avLst>
              <a:gd name="adj" fmla="val 10667"/>
            </a:avLst>
          </a:prstGeom>
          <a:solidFill>
            <a:srgbClr val="21295C"/>
          </a:solidFill>
          <a:ln/>
        </p:spPr>
      </p:sp>
      <p:sp>
        <p:nvSpPr>
          <p:cNvPr id="17" name="Text 15"/>
          <p:cNvSpPr/>
          <p:nvPr/>
        </p:nvSpPr>
        <p:spPr>
          <a:xfrm>
            <a:off x="822960" y="5532120"/>
            <a:ext cx="10543032" cy="685800"/>
          </a:xfrm>
          <a:prstGeom prst="rect">
            <a:avLst/>
          </a:prstGeom>
          <a:noFill/>
          <a:ln/>
        </p:spPr>
        <p:txBody>
          <a:bodyPr wrap="square" rtlCol="0" anchor="ctr"/>
          <a:lstStyle/>
          <a:p>
            <a:pPr indent="0" marL="0">
              <a:buNone/>
            </a:pPr>
            <a:r>
              <a:rPr lang="en-US" sz="1400" i="1" dirty="0">
                <a:solidFill>
                  <a:srgbClr val="5FBFB0"/>
                </a:solidFill>
                <a:latin typeface="Calibri" pitchFamily="34" charset="0"/>
                <a:ea typeface="Calibri" pitchFamily="34" charset="-122"/>
                <a:cs typeface="Calibri" pitchFamily="34" charset="-120"/>
              </a:rPr>
              <a:t>Low-risk, high-confidence, and fully traceable back to the model — not a guess.</a:t>
            </a:r>
            <a:endParaRPr lang="en-US" sz="1400" dirty="0"/>
          </a:p>
        </p:txBody>
      </p:sp>
      <p:sp>
        <p:nvSpPr>
          <p:cNvPr id="18" name="Text 16"/>
          <p:cNvSpPr/>
          <p:nvPr/>
        </p:nvSpPr>
        <p:spPr>
          <a:xfrm>
            <a:off x="548640" y="6537960"/>
            <a:ext cx="7315200" cy="274320"/>
          </a:xfrm>
          <a:prstGeom prst="rect">
            <a:avLst/>
          </a:prstGeom>
          <a:noFill/>
          <a:ln/>
        </p:spPr>
        <p:txBody>
          <a:bodyPr wrap="square" rtlCol="0" anchor="ctr"/>
          <a:lstStyle/>
          <a:p>
            <a:pPr indent="0" marL="0">
              <a:buNone/>
            </a:pPr>
            <a:r>
              <a:rPr lang="en-US" sz="900" dirty="0">
                <a:solidFill>
                  <a:srgbClr val="5B6B76"/>
                </a:solidFill>
                <a:latin typeface="Calibri" pitchFamily="34" charset="0"/>
                <a:ea typeface="Calibri" pitchFamily="34" charset="-122"/>
                <a:cs typeface="Calibri" pitchFamily="34" charset="-120"/>
              </a:rPr>
              <a:t>Store Growth Readiness Scorecard  ·  Jaffle Shop dbt Project</a:t>
            </a:r>
            <a:endParaRPr lang="en-US" sz="900" dirty="0"/>
          </a:p>
        </p:txBody>
      </p:sp>
      <p:sp>
        <p:nvSpPr>
          <p:cNvPr id="19" name="Text 17"/>
          <p:cNvSpPr/>
          <p:nvPr/>
        </p:nvSpPr>
        <p:spPr>
          <a:xfrm>
            <a:off x="11365992" y="6537960"/>
            <a:ext cx="36576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869680" y="-1463040"/>
            <a:ext cx="5029200" cy="5029200"/>
          </a:xfrm>
          <a:prstGeom prst="ellipse">
            <a:avLst/>
          </a:prstGeom>
          <a:solidFill>
            <a:srgbClr val="065A82">
              <a:alpha val="45000"/>
            </a:srgbClr>
          </a:solidFill>
          <a:ln/>
        </p:spPr>
      </p:sp>
      <p:sp>
        <p:nvSpPr>
          <p:cNvPr id="3" name="Shape 1"/>
          <p:cNvSpPr/>
          <p:nvPr/>
        </p:nvSpPr>
        <p:spPr>
          <a:xfrm>
            <a:off x="-1097280" y="4754880"/>
            <a:ext cx="3657600" cy="3657600"/>
          </a:xfrm>
          <a:prstGeom prst="ellipse">
            <a:avLst/>
          </a:prstGeom>
          <a:solidFill>
            <a:srgbClr val="5FBFB0">
              <a:alpha val="28000"/>
            </a:srgbClr>
          </a:solidFill>
          <a:ln/>
        </p:spPr>
      </p:sp>
      <p:sp>
        <p:nvSpPr>
          <p:cNvPr id="4" name="Text 2"/>
          <p:cNvSpPr/>
          <p:nvPr/>
        </p:nvSpPr>
        <p:spPr>
          <a:xfrm>
            <a:off x="548640" y="2651760"/>
            <a:ext cx="7315200" cy="100584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Questions?</a:t>
            </a:r>
            <a:endParaRPr lang="en-US" sz="4400" dirty="0"/>
          </a:p>
        </p:txBody>
      </p:sp>
      <p:sp>
        <p:nvSpPr>
          <p:cNvPr id="5" name="Text 3"/>
          <p:cNvSpPr/>
          <p:nvPr/>
        </p:nvSpPr>
        <p:spPr>
          <a:xfrm>
            <a:off x="548640" y="3657600"/>
            <a:ext cx="9601200" cy="457200"/>
          </a:xfrm>
          <a:prstGeom prst="rect">
            <a:avLst/>
          </a:prstGeom>
          <a:noFill/>
          <a:ln/>
        </p:spPr>
        <p:txBody>
          <a:bodyPr wrap="square" rtlCol="0" anchor="ctr"/>
          <a:lstStyle/>
          <a:p>
            <a:pPr indent="0" marL="0">
              <a:buNone/>
            </a:pPr>
            <a:r>
              <a:rPr lang="en-US" sz="1400" dirty="0">
                <a:solidFill>
                  <a:srgbClr val="C8D8DF"/>
                </a:solidFill>
                <a:latin typeface="Calibri" pitchFamily="34" charset="0"/>
                <a:ea typeface="Calibri" pitchFamily="34" charset="-122"/>
                <a:cs typeface="Calibri" pitchFamily="34" charset="-120"/>
              </a:rPr>
              <a:t>Full build, tests, and docs: github.com/atrivedi-dbtlabs/university_workshop_starter</a:t>
            </a:r>
            <a:endParaRPr lang="en-US" sz="1400" dirty="0"/>
          </a:p>
        </p:txBody>
      </p:sp>
      <p:sp>
        <p:nvSpPr>
          <p:cNvPr id="6" name="Text 4"/>
          <p:cNvSpPr/>
          <p:nvPr/>
        </p:nvSpPr>
        <p:spPr>
          <a:xfrm>
            <a:off x="548640" y="4114800"/>
            <a:ext cx="9601200" cy="457200"/>
          </a:xfrm>
          <a:prstGeom prst="rect">
            <a:avLst/>
          </a:prstGeom>
          <a:noFill/>
          <a:ln/>
        </p:spPr>
        <p:txBody>
          <a:bodyPr wrap="square" rtlCol="0" anchor="ctr"/>
          <a:lstStyle/>
          <a:p>
            <a:pPr indent="0" marL="0">
              <a:buNone/>
            </a:pPr>
            <a:r>
              <a:rPr lang="en-US" sz="1250" i="1" dirty="0">
                <a:solidFill>
                  <a:srgbClr val="9FB4BD"/>
                </a:solidFill>
                <a:latin typeface="Calibri" pitchFamily="34" charset="0"/>
                <a:ea typeface="Calibri" pitchFamily="34" charset="-122"/>
                <a:cs typeface="Calibri" pitchFamily="34" charset="-120"/>
              </a:rPr>
              <a:t>Branch: UOB-Workshop  ·  dbt build passing 35/35</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2026-07-10T14:21:44Z</dcterms:created>
  <dcterms:modified xsi:type="dcterms:W3CDTF">2026-07-10T14:21:44Z</dcterms:modified>
</cp:coreProperties>
</file>